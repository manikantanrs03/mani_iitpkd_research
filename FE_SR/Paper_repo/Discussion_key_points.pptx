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8" r:id="rId12"/>
    <p:sldId id="265" r:id="rId13"/>
    <p:sldId id="266" r:id="rId14"/>
    <p:sldId id="267" r:id="rId15"/>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2FB7F358-B218-4A13-8D16-02EB9C006E16}" type="datetimeFigureOut">
              <a:rPr lang="en-IN" smtClean="0"/>
              <a:t>11-12-2025</a:t>
            </a:fld>
            <a:endParaRPr lang="en-IN"/>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3370B2EB-05B8-40B2-AB6A-6DA96447B179}" type="slidenum">
              <a:rPr lang="en-IN" smtClean="0"/>
              <a:t>‹#›</a:t>
            </a:fld>
            <a:endParaRPr lang="en-IN"/>
          </a:p>
        </p:txBody>
      </p:sp>
    </p:spTree>
    <p:extLst>
      <p:ext uri="{BB962C8B-B14F-4D97-AF65-F5344CB8AC3E}">
        <p14:creationId xmlns:p14="http://schemas.microsoft.com/office/powerpoint/2010/main" val="1693062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70B2EB-05B8-40B2-AB6A-6DA96447B179}" type="slidenum">
              <a:rPr lang="en-IN" smtClean="0"/>
              <a:t>8</a:t>
            </a:fld>
            <a:endParaRPr lang="en-IN"/>
          </a:p>
        </p:txBody>
      </p:sp>
    </p:spTree>
    <p:extLst>
      <p:ext uri="{BB962C8B-B14F-4D97-AF65-F5344CB8AC3E}">
        <p14:creationId xmlns:p14="http://schemas.microsoft.com/office/powerpoint/2010/main" val="366818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028E1-F19A-3291-9CCD-3DCB7D32A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BE87E-C1D1-CF51-E1A0-E02272DDE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3F323-BF99-0EDA-51B9-F5C7EBEEAC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8AB17D-8AFC-B7CB-2472-455EF99F0872}"/>
              </a:ext>
            </a:extLst>
          </p:cNvPr>
          <p:cNvSpPr>
            <a:spLocks noGrp="1"/>
          </p:cNvSpPr>
          <p:nvPr>
            <p:ph type="sldNum" sz="quarter" idx="5"/>
          </p:nvPr>
        </p:nvSpPr>
        <p:spPr/>
        <p:txBody>
          <a:bodyPr/>
          <a:lstStyle/>
          <a:p>
            <a:fld id="{3370B2EB-05B8-40B2-AB6A-6DA96447B179}" type="slidenum">
              <a:rPr lang="en-IN" smtClean="0"/>
              <a:t>9</a:t>
            </a:fld>
            <a:endParaRPr lang="en-IN"/>
          </a:p>
        </p:txBody>
      </p:sp>
    </p:spTree>
    <p:extLst>
      <p:ext uri="{BB962C8B-B14F-4D97-AF65-F5344CB8AC3E}">
        <p14:creationId xmlns:p14="http://schemas.microsoft.com/office/powerpoint/2010/main" val="1590222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88E43-BB3C-EDC3-186E-B2DCB9872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C359A-14CD-3898-3A01-55EC7E052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02DFA-9D12-EA72-A857-D8E0D55BC2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E8D9EE-0126-FC9C-9F4D-5CF838FC6BD2}"/>
              </a:ext>
            </a:extLst>
          </p:cNvPr>
          <p:cNvSpPr>
            <a:spLocks noGrp="1"/>
          </p:cNvSpPr>
          <p:nvPr>
            <p:ph type="sldNum" sz="quarter" idx="5"/>
          </p:nvPr>
        </p:nvSpPr>
        <p:spPr/>
        <p:txBody>
          <a:bodyPr/>
          <a:lstStyle/>
          <a:p>
            <a:fld id="{3370B2EB-05B8-40B2-AB6A-6DA96447B179}" type="slidenum">
              <a:rPr lang="en-IN" smtClean="0"/>
              <a:t>10</a:t>
            </a:fld>
            <a:endParaRPr lang="en-IN"/>
          </a:p>
        </p:txBody>
      </p:sp>
    </p:spTree>
    <p:extLst>
      <p:ext uri="{BB962C8B-B14F-4D97-AF65-F5344CB8AC3E}">
        <p14:creationId xmlns:p14="http://schemas.microsoft.com/office/powerpoint/2010/main" val="4274510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FAFBF-2FEB-54A0-D6EB-FD24350C3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AD510-0BAC-E1DD-CE5E-336FE5800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E7524-B82C-FB43-EC2A-292A22339C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CA5E68-63B9-DC46-8244-F082C0FFD064}"/>
              </a:ext>
            </a:extLst>
          </p:cNvPr>
          <p:cNvSpPr>
            <a:spLocks noGrp="1"/>
          </p:cNvSpPr>
          <p:nvPr>
            <p:ph type="sldNum" sz="quarter" idx="5"/>
          </p:nvPr>
        </p:nvSpPr>
        <p:spPr/>
        <p:txBody>
          <a:bodyPr/>
          <a:lstStyle/>
          <a:p>
            <a:fld id="{3370B2EB-05B8-40B2-AB6A-6DA96447B179}" type="slidenum">
              <a:rPr lang="en-IN" smtClean="0"/>
              <a:t>11</a:t>
            </a:fld>
            <a:endParaRPr lang="en-IN"/>
          </a:p>
        </p:txBody>
      </p:sp>
    </p:spTree>
    <p:extLst>
      <p:ext uri="{BB962C8B-B14F-4D97-AF65-F5344CB8AC3E}">
        <p14:creationId xmlns:p14="http://schemas.microsoft.com/office/powerpoint/2010/main" val="4212042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DD6F4-870B-91B6-404C-02E2AED5D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D2D29-302F-AD49-58A9-1081557A2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7A4EE-3D31-6887-6C5D-A127266794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C672DF-C3BF-1DCA-2E4B-557202C9E4B9}"/>
              </a:ext>
            </a:extLst>
          </p:cNvPr>
          <p:cNvSpPr>
            <a:spLocks noGrp="1"/>
          </p:cNvSpPr>
          <p:nvPr>
            <p:ph type="sldNum" sz="quarter" idx="5"/>
          </p:nvPr>
        </p:nvSpPr>
        <p:spPr/>
        <p:txBody>
          <a:bodyPr/>
          <a:lstStyle/>
          <a:p>
            <a:fld id="{3370B2EB-05B8-40B2-AB6A-6DA96447B179}" type="slidenum">
              <a:rPr lang="en-IN" smtClean="0"/>
              <a:t>12</a:t>
            </a:fld>
            <a:endParaRPr lang="en-IN"/>
          </a:p>
        </p:txBody>
      </p:sp>
    </p:spTree>
    <p:extLst>
      <p:ext uri="{BB962C8B-B14F-4D97-AF65-F5344CB8AC3E}">
        <p14:creationId xmlns:p14="http://schemas.microsoft.com/office/powerpoint/2010/main" val="825401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5369D-2E54-3278-C10D-CA739C227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7B1C3-2813-37EF-0F47-8BCB1A344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9DFE68-AC40-71BA-1927-8A85B0ECF9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B18E8D-6F50-721A-7565-C46EF9B68306}"/>
              </a:ext>
            </a:extLst>
          </p:cNvPr>
          <p:cNvSpPr>
            <a:spLocks noGrp="1"/>
          </p:cNvSpPr>
          <p:nvPr>
            <p:ph type="sldNum" sz="quarter" idx="5"/>
          </p:nvPr>
        </p:nvSpPr>
        <p:spPr/>
        <p:txBody>
          <a:bodyPr/>
          <a:lstStyle/>
          <a:p>
            <a:fld id="{3370B2EB-05B8-40B2-AB6A-6DA96447B179}" type="slidenum">
              <a:rPr lang="en-IN" smtClean="0"/>
              <a:t>13</a:t>
            </a:fld>
            <a:endParaRPr lang="en-IN"/>
          </a:p>
        </p:txBody>
      </p:sp>
    </p:spTree>
    <p:extLst>
      <p:ext uri="{BB962C8B-B14F-4D97-AF65-F5344CB8AC3E}">
        <p14:creationId xmlns:p14="http://schemas.microsoft.com/office/powerpoint/2010/main" val="1708430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152DC99A-1A72-4A18-BE85-CC6D954C8A6A}"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393DAB42-4219-4C7A-9CF4-3C3865DCA23E}"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49B4C20E-52C3-494B-B9AA-7D9882572810}"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6D916898-0975-4CF1-BF47-FB0D50253040}"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828CABB0-F659-43C0-9B9E-321FE20AF771}"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F3313670-F5FB-4362-BBE2-945B2ED9B9D5}"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953E8A23-7D46-4BE4-91F8-EA199EF09461}"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EF4F353-F8BC-4E79-B136-949E29E3777C}"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1DF9F529-B097-42BB-BA7F-C7936137CB33}"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587B7B58-91DA-4249-9F6D-3A7D97B3B79C}"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C57D9059-8FB2-4906-A46A-933480FFE6B6}"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E7659115-0745-41B2-BC4C-78215F3CCC50}"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1568D07C-8E3A-4DDD-851E-D1739F1EB092}"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74B14560-4581-4305-BCD8-681818EAC534}"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88D9A71D-5953-4E79-BC69-FF01B8DDB53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1D4F0E64-FA37-4E0F-9FF9-1E1CDA9BDE77}"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86D2787E-6BC2-4C70-A86C-B961FBF3C304}"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F53F496E-2341-4F33-93D1-3B15F8B22CA9}"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3E3AD47A-A371-41E9-B912-B386967BA5D7}"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7C66E370-9664-4999-A2A2-3D20D6DD47FA}"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2BF3CEEA-C407-4D18-8BB1-EDBAE17B85A0}"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1A694C53-08FC-4F21-8A7C-E25FCD2E8F5E}"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B9C2774C-8B24-43B0-803D-6999307362E4}"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B7B66674-F04D-40FD-8883-E44B6B5F8902}"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indent="0" algn="ctr">
              <a:lnSpc>
                <a:spcPct val="90000"/>
              </a:lnSpc>
              <a:buNone/>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&lt;date/time&gt;</a:t>
            </a:r>
            <a:endParaRPr lang="en-IN"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4600D565-FDF4-4570-9843-F2A409F532CD}"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lstStyle/>
          <a:p>
            <a:pPr marL="228600" indent="-22860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60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60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60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60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indent="0">
              <a:lnSpc>
                <a:spcPct val="100000"/>
              </a:lnSpc>
              <a:buNone/>
              <a:defRPr lang="en-IN" sz="1200" b="0" strike="noStrike" spc="-1">
                <a:solidFill>
                  <a:srgbClr val="8B8B8B"/>
                </a:solidFill>
                <a:latin typeface="Calibri"/>
              </a:defRPr>
            </a:lvl1pPr>
          </a:lstStyle>
          <a:p>
            <a:pPr indent="0">
              <a:lnSpc>
                <a:spcPct val="100000"/>
              </a:lnSpc>
              <a:buNone/>
            </a:pPr>
            <a:r>
              <a:rPr lang="en-IN" sz="1200" b="0" strike="noStrike" spc="-1">
                <a:solidFill>
                  <a:srgbClr val="8B8B8B"/>
                </a:solidFill>
                <a:latin typeface="Calibri"/>
              </a:rPr>
              <a:t>&lt;date/time&gt;</a:t>
            </a:r>
            <a:endParaRPr lang="en-IN" sz="1200" b="0" strike="noStrike" spc="-1">
              <a:solidFill>
                <a:srgbClr val="000000"/>
              </a:solidFill>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indent="0" algn="ctr">
              <a:buNone/>
              <a:defRPr lang="en-IN" sz="1400" b="0" strike="noStrike" spc="-1">
                <a:solidFill>
                  <a:srgbClr val="000000"/>
                </a:solidFill>
                <a:latin typeface="Times New Roman"/>
              </a:defRPr>
            </a:lvl1pPr>
          </a:lstStyle>
          <a:p>
            <a:pPr indent="0" algn="ctr">
              <a:buNone/>
            </a:pPr>
            <a:r>
              <a:rPr lang="en-IN" sz="1400" b="0" strike="noStrike" spc="-1">
                <a:solidFill>
                  <a:srgbClr val="000000"/>
                </a:solidFill>
                <a:latin typeface="Times New Roman"/>
              </a:rPr>
              <a:t>&lt;footer&gt;</a:t>
            </a: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indent="0" algn="r">
              <a:lnSpc>
                <a:spcPct val="100000"/>
              </a:lnSpc>
              <a:buNone/>
              <a:defRPr lang="en-IN" sz="1200" b="0" strike="noStrike" spc="-1">
                <a:solidFill>
                  <a:srgbClr val="8B8B8B"/>
                </a:solidFill>
                <a:latin typeface="Calibri"/>
              </a:defRPr>
            </a:lvl1pPr>
          </a:lstStyle>
          <a:p>
            <a:pPr indent="0" algn="r">
              <a:lnSpc>
                <a:spcPct val="100000"/>
              </a:lnSpc>
              <a:buNone/>
            </a:pPr>
            <a:fld id="{3ADBEB16-080E-4128-AA92-55BC3D8DC08D}"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indent="0" algn="ctr">
              <a:lnSpc>
                <a:spcPct val="90000"/>
              </a:lnSpc>
              <a:buNone/>
            </a:pPr>
            <a:r>
              <a:rPr lang="en-IN" sz="6000" b="0" strike="noStrike" spc="-1">
                <a:solidFill>
                  <a:srgbClr val="000000"/>
                </a:solidFill>
                <a:latin typeface="Calibri Light"/>
              </a:rPr>
              <a:t>SR in thin-film ferro-electric capacitor</a:t>
            </a:r>
            <a:endParaRPr lang="en-US" sz="6000" b="0" strike="noStrike" spc="-1">
              <a:solidFill>
                <a:srgbClr val="000000"/>
              </a:solidFill>
              <a:latin typeface="Calibri"/>
            </a:endParaRPr>
          </a:p>
        </p:txBody>
      </p:sp>
      <p:sp>
        <p:nvSpPr>
          <p:cNvPr id="83" name="PlaceHolder 2"/>
          <p:cNvSpPr>
            <a:spLocks noGrp="1"/>
          </p:cNvSpPr>
          <p:nvPr>
            <p:ph type="subTitle"/>
          </p:nvPr>
        </p:nvSpPr>
        <p:spPr>
          <a:xfrm>
            <a:off x="1523880" y="3602160"/>
            <a:ext cx="9143640" cy="1655280"/>
          </a:xfrm>
          <a:prstGeom prst="rect">
            <a:avLst/>
          </a:prstGeom>
          <a:noFill/>
          <a:ln w="0">
            <a:noFill/>
          </a:ln>
        </p:spPr>
        <p:txBody>
          <a:bodyPr anchor="t">
            <a:noAutofit/>
          </a:bodyPr>
          <a:lstStyle/>
          <a:p>
            <a:pPr indent="0" algn="ctr">
              <a:buNone/>
            </a:pPr>
            <a:endParaRPr lang="en-IN" sz="2400" b="0" strike="noStrike" spc="-1">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IN" sz="4400" b="0" strike="noStrike" spc="-1">
                <a:solidFill>
                  <a:srgbClr val="000000"/>
                </a:solidFill>
                <a:latin typeface="Calibri Light"/>
              </a:rPr>
              <a:t>Hysteresis Fit IIT PKD</a:t>
            </a:r>
            <a:endParaRPr lang="en-US" sz="4400" b="0" strike="noStrike" spc="-1">
              <a:solidFill>
                <a:srgbClr val="000000"/>
              </a:solidFill>
              <a:latin typeface="Calibri"/>
            </a:endParaRPr>
          </a:p>
        </p:txBody>
      </p:sp>
      <p:pic>
        <p:nvPicPr>
          <p:cNvPr id="85" name="Content Placeholder 4"/>
          <p:cNvPicPr/>
          <p:nvPr/>
        </p:nvPicPr>
        <p:blipFill>
          <a:blip r:embed="rId2"/>
          <a:stretch/>
        </p:blipFill>
        <p:spPr>
          <a:xfrm>
            <a:off x="838080" y="1690560"/>
            <a:ext cx="6347520" cy="4350960"/>
          </a:xfrm>
          <a:prstGeom prst="rect">
            <a:avLst/>
          </a:prstGeom>
          <a:ln w="0">
            <a:noFill/>
          </a:ln>
        </p:spPr>
      </p:pic>
      <p:sp>
        <p:nvSpPr>
          <p:cNvPr id="86" name="TextBox 5"/>
          <p:cNvSpPr/>
          <p:nvPr/>
        </p:nvSpPr>
        <p:spPr>
          <a:xfrm>
            <a:off x="7793280" y="3053520"/>
            <a:ext cx="2952720" cy="2832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a:solidFill>
                  <a:srgbClr val="000000"/>
                </a:solidFill>
                <a:latin typeface="Calibri"/>
              </a:rPr>
              <a:t>For 1, 10, 100 Hz the fit is okay. For higher frequency the fit is not good.</a:t>
            </a:r>
            <a:endParaRPr lang="en-IN" sz="1800" b="0" strike="noStrike" spc="-1">
              <a:solidFill>
                <a:srgbClr val="000000"/>
              </a:solidFill>
              <a:latin typeface="Arial"/>
            </a:endParaRPr>
          </a:p>
          <a:p>
            <a:pPr>
              <a:lnSpc>
                <a:spcPct val="100000"/>
              </a:lnSpc>
            </a:pPr>
            <a:endParaRPr lang="en-IN" sz="1800" b="0" strike="noStrike" spc="-1">
              <a:solidFill>
                <a:srgbClr val="000000"/>
              </a:solidFill>
              <a:latin typeface="Arial"/>
            </a:endParaRPr>
          </a:p>
          <a:p>
            <a:pPr>
              <a:lnSpc>
                <a:spcPct val="100000"/>
              </a:lnSpc>
            </a:pPr>
            <a:r>
              <a:rPr lang="en-IN" sz="1800" b="0" strike="noStrike" spc="-1">
                <a:solidFill>
                  <a:srgbClr val="000000"/>
                </a:solidFill>
                <a:latin typeface="Calibri"/>
              </a:rPr>
              <a:t>Rho possibly a frequency dependent term!</a:t>
            </a:r>
            <a:endParaRPr lang="en-IN" sz="1800" b="0" strike="noStrike" spc="-1">
              <a:solidFill>
                <a:srgbClr val="000000"/>
              </a:solidFill>
              <a:latin typeface="Arial"/>
            </a:endParaRPr>
          </a:p>
          <a:p>
            <a:pPr>
              <a:lnSpc>
                <a:spcPct val="100000"/>
              </a:lnSpc>
            </a:pPr>
            <a:endParaRPr lang="en-IN" sz="1800" b="0" strike="noStrike" spc="-1">
              <a:solidFill>
                <a:srgbClr val="000000"/>
              </a:solidFill>
              <a:latin typeface="Arial"/>
            </a:endParaRPr>
          </a:p>
          <a:p>
            <a:pPr>
              <a:lnSpc>
                <a:spcPct val="100000"/>
              </a:lnSpc>
            </a:pPr>
            <a:r>
              <a:rPr lang="en-IN" sz="1800" b="0" strike="noStrike" spc="-1">
                <a:solidFill>
                  <a:srgbClr val="FF0000"/>
                </a:solidFill>
                <a:latin typeface="Calibri"/>
              </a:rPr>
              <a:t>In paper should we indicate 100Hz loop and fit or 1Hz loop and fit??</a:t>
            </a:r>
            <a:endParaRPr lang="en-IN" sz="1800" b="0" strike="noStrike" spc="-1">
              <a:solidFill>
                <a:srgbClr val="000000"/>
              </a:solidFill>
              <a:latin typeface="Arial"/>
            </a:endParaRPr>
          </a:p>
        </p:txBody>
      </p:sp>
      <p:sp>
        <p:nvSpPr>
          <p:cNvPr id="87" name="TextBox 6"/>
          <p:cNvSpPr/>
          <p:nvPr/>
        </p:nvSpPr>
        <p:spPr>
          <a:xfrm>
            <a:off x="7793280" y="1690560"/>
            <a:ext cx="29527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a:solidFill>
                  <a:srgbClr val="000000"/>
                </a:solidFill>
                <a:latin typeface="Calibri"/>
              </a:rPr>
              <a:t>For extracting alpha, beta we used 1Hz hysteresis loop</a:t>
            </a:r>
            <a:endParaRPr lang="en-IN" sz="1800" b="0" strike="noStrike" spc="-1">
              <a:solidFill>
                <a:srgbClr val="000000"/>
              </a:solidFill>
              <a:latin typeface="Arial"/>
            </a:endParaRPr>
          </a:p>
        </p:txBody>
      </p:sp>
      <p:sp>
        <p:nvSpPr>
          <p:cNvPr id="88" name="TextBox 87"/>
          <p:cNvSpPr txBox="1"/>
          <p:nvPr/>
        </p:nvSpPr>
        <p:spPr>
          <a:xfrm>
            <a:off x="1819080" y="6120000"/>
            <a:ext cx="5200920" cy="780480"/>
          </a:xfrm>
          <a:prstGeom prst="rect">
            <a:avLst/>
          </a:prstGeom>
          <a:noFill/>
          <a:ln w="0">
            <a:noFill/>
          </a:ln>
        </p:spPr>
        <p:txBody>
          <a:bodyPr lIns="90000" tIns="45000" rIns="90000" bIns="45000" anchor="t">
            <a:noAutofit/>
          </a:bodyPr>
          <a:lstStyle/>
          <a:p>
            <a:r>
              <a:rPr lang="en-IN" sz="1800" b="0" strike="noStrike" spc="-1">
                <a:solidFill>
                  <a:srgbClr val="000000"/>
                </a:solidFill>
                <a:latin typeface="Calibri"/>
              </a:rPr>
              <a:t>All with rho = 390 ohm m. Note that we have expt data for different freqeuncy as well for IITPKD data</a:t>
            </a:r>
            <a:endParaRPr lang="en-IN" sz="1800" b="0" strike="noStrike" spc="-1">
              <a:solidFill>
                <a:srgbClr val="000000"/>
              </a:solidFill>
              <a:latin typeface="Arial"/>
            </a:endParaRPr>
          </a:p>
          <a:p>
            <a:endParaRPr lang="en-IN" sz="18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Picture 88"/>
          <p:cNvPicPr/>
          <p:nvPr/>
        </p:nvPicPr>
        <p:blipFill>
          <a:blip r:embed="rId2"/>
          <a:stretch/>
        </p:blipFill>
        <p:spPr>
          <a:xfrm>
            <a:off x="180000" y="1690560"/>
            <a:ext cx="3745800" cy="2809440"/>
          </a:xfrm>
          <a:prstGeom prst="rect">
            <a:avLst/>
          </a:prstGeom>
          <a:ln w="0">
            <a:noFill/>
          </a:ln>
        </p:spPr>
      </p:pic>
      <p:pic>
        <p:nvPicPr>
          <p:cNvPr id="90" name="Picture 89"/>
          <p:cNvPicPr/>
          <p:nvPr/>
        </p:nvPicPr>
        <p:blipFill>
          <a:blip r:embed="rId3"/>
          <a:stretch/>
        </p:blipFill>
        <p:spPr>
          <a:xfrm>
            <a:off x="3994200" y="1690560"/>
            <a:ext cx="3745800" cy="2809440"/>
          </a:xfrm>
          <a:prstGeom prst="rect">
            <a:avLst/>
          </a:prstGeom>
          <a:ln w="0">
            <a:noFill/>
          </a:ln>
        </p:spPr>
      </p:pic>
      <p:sp>
        <p:nvSpPr>
          <p:cNvPr id="91" name="Title 2"/>
          <p:cNvSpPr txBox="1"/>
          <p:nvPr/>
        </p:nvSpPr>
        <p:spPr>
          <a:xfrm>
            <a:off x="838440" y="365400"/>
            <a:ext cx="10515240" cy="1325160"/>
          </a:xfrm>
          <a:prstGeom prst="rect">
            <a:avLst/>
          </a:prstGeom>
          <a:noFill/>
          <a:ln w="0">
            <a:noFill/>
          </a:ln>
        </p:spPr>
        <p:txBody>
          <a:bodyPr anchor="ctr">
            <a:noAutofit/>
          </a:bodyPr>
          <a:lstStyle/>
          <a:p>
            <a:pPr>
              <a:lnSpc>
                <a:spcPct val="90000"/>
              </a:lnSpc>
            </a:pPr>
            <a:r>
              <a:rPr lang="en-IN" sz="4400" b="0" strike="noStrike" spc="-1">
                <a:solidFill>
                  <a:srgbClr val="000000"/>
                </a:solidFill>
                <a:latin typeface="Calibri Light"/>
              </a:rPr>
              <a:t>Hysteresis Fit IISc PKD</a:t>
            </a:r>
            <a:endParaRPr lang="en-US" sz="4400" b="0" strike="noStrike" spc="-1">
              <a:solidFill>
                <a:srgbClr val="000000"/>
              </a:solidFill>
              <a:latin typeface="Calibri"/>
            </a:endParaRPr>
          </a:p>
        </p:txBody>
      </p:sp>
      <p:pic>
        <p:nvPicPr>
          <p:cNvPr id="92" name="Picture 91"/>
          <p:cNvPicPr/>
          <p:nvPr/>
        </p:nvPicPr>
        <p:blipFill>
          <a:blip r:embed="rId4"/>
          <a:stretch/>
        </p:blipFill>
        <p:spPr>
          <a:xfrm>
            <a:off x="7740000" y="1690560"/>
            <a:ext cx="3893760" cy="2920320"/>
          </a:xfrm>
          <a:prstGeom prst="rect">
            <a:avLst/>
          </a:prstGeom>
          <a:ln w="0">
            <a:noFill/>
          </a:ln>
        </p:spPr>
      </p:pic>
      <p:sp>
        <p:nvSpPr>
          <p:cNvPr id="93" name="TextBox 92"/>
          <p:cNvSpPr txBox="1"/>
          <p:nvPr/>
        </p:nvSpPr>
        <p:spPr>
          <a:xfrm>
            <a:off x="559080" y="4979520"/>
            <a:ext cx="11140920" cy="780480"/>
          </a:xfrm>
          <a:prstGeom prst="rect">
            <a:avLst/>
          </a:prstGeom>
          <a:noFill/>
          <a:ln w="0">
            <a:noFill/>
          </a:ln>
        </p:spPr>
        <p:txBody>
          <a:bodyPr lIns="90000" tIns="45000" rIns="90000" bIns="45000" anchor="t">
            <a:noAutofit/>
          </a:bodyPr>
          <a:lstStyle/>
          <a:p>
            <a:r>
              <a:rPr lang="en-IN" sz="1800" b="0" strike="noStrike" spc="-1">
                <a:solidFill>
                  <a:srgbClr val="000000"/>
                </a:solidFill>
                <a:latin typeface="Calibri"/>
              </a:rPr>
              <a:t> Note that we have expt data for only for 1kHz for IISc data</a:t>
            </a:r>
            <a:endParaRPr lang="en-IN" sz="1800" b="0" strike="noStrike" spc="-1">
              <a:solidFill>
                <a:srgbClr val="000000"/>
              </a:solidFill>
              <a:latin typeface="Arial"/>
            </a:endParaRPr>
          </a:p>
          <a:p>
            <a:endParaRPr lang="en-IN" sz="18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3"/>
          <p:cNvSpPr txBox="1"/>
          <p:nvPr/>
        </p:nvSpPr>
        <p:spPr>
          <a:xfrm>
            <a:off x="838440" y="365400"/>
            <a:ext cx="10515240" cy="1325160"/>
          </a:xfrm>
          <a:prstGeom prst="rect">
            <a:avLst/>
          </a:prstGeom>
          <a:noFill/>
          <a:ln w="0">
            <a:noFill/>
          </a:ln>
        </p:spPr>
        <p:txBody>
          <a:bodyPr anchor="ctr">
            <a:noAutofit/>
          </a:bodyPr>
          <a:lstStyle/>
          <a:p>
            <a:pPr>
              <a:lnSpc>
                <a:spcPct val="90000"/>
              </a:lnSpc>
            </a:pPr>
            <a:r>
              <a:rPr lang="en-IN" sz="4400" b="0" strike="noStrike" spc="-1">
                <a:solidFill>
                  <a:srgbClr val="000000"/>
                </a:solidFill>
                <a:latin typeface="Calibri Light"/>
              </a:rPr>
              <a:t>Hysteresis Fit IISc PKD</a:t>
            </a:r>
            <a:endParaRPr lang="en-US" sz="4400" b="0" strike="noStrike" spc="-1">
              <a:solidFill>
                <a:srgbClr val="000000"/>
              </a:solidFill>
              <a:latin typeface="Calibri"/>
            </a:endParaRPr>
          </a:p>
        </p:txBody>
      </p:sp>
      <p:pic>
        <p:nvPicPr>
          <p:cNvPr id="95" name="Picture 94"/>
          <p:cNvPicPr/>
          <p:nvPr/>
        </p:nvPicPr>
        <p:blipFill>
          <a:blip r:embed="rId2"/>
          <a:stretch/>
        </p:blipFill>
        <p:spPr>
          <a:xfrm>
            <a:off x="0" y="1620000"/>
            <a:ext cx="3840120" cy="2880000"/>
          </a:xfrm>
          <a:prstGeom prst="rect">
            <a:avLst/>
          </a:prstGeom>
          <a:ln w="0">
            <a:noFill/>
          </a:ln>
        </p:spPr>
      </p:pic>
      <p:pic>
        <p:nvPicPr>
          <p:cNvPr id="96" name="Picture 95"/>
          <p:cNvPicPr/>
          <p:nvPr/>
        </p:nvPicPr>
        <p:blipFill>
          <a:blip r:embed="rId3"/>
          <a:stretch/>
        </p:blipFill>
        <p:spPr>
          <a:xfrm>
            <a:off x="7740000" y="1575000"/>
            <a:ext cx="4140000" cy="3105000"/>
          </a:xfrm>
          <a:prstGeom prst="rect">
            <a:avLst/>
          </a:prstGeom>
          <a:ln w="0">
            <a:noFill/>
          </a:ln>
        </p:spPr>
      </p:pic>
      <p:pic>
        <p:nvPicPr>
          <p:cNvPr id="97" name="Picture 96"/>
          <p:cNvPicPr/>
          <p:nvPr/>
        </p:nvPicPr>
        <p:blipFill>
          <a:blip r:embed="rId4"/>
          <a:stretch/>
        </p:blipFill>
        <p:spPr>
          <a:xfrm>
            <a:off x="3771360" y="1595880"/>
            <a:ext cx="3960000" cy="2970000"/>
          </a:xfrm>
          <a:prstGeom prst="rect">
            <a:avLst/>
          </a:prstGeom>
          <a:ln w="0">
            <a:noFill/>
          </a:ln>
        </p:spPr>
      </p:pic>
      <p:sp>
        <p:nvSpPr>
          <p:cNvPr id="98" name="TextBox 97"/>
          <p:cNvSpPr txBox="1"/>
          <p:nvPr/>
        </p:nvSpPr>
        <p:spPr>
          <a:xfrm>
            <a:off x="559440" y="4979520"/>
            <a:ext cx="11140920" cy="780480"/>
          </a:xfrm>
          <a:prstGeom prst="rect">
            <a:avLst/>
          </a:prstGeom>
          <a:noFill/>
          <a:ln w="0">
            <a:noFill/>
          </a:ln>
        </p:spPr>
        <p:txBody>
          <a:bodyPr lIns="90000" tIns="45000" rIns="90000" bIns="45000" anchor="t">
            <a:noAutofit/>
          </a:bodyPr>
          <a:lstStyle/>
          <a:p>
            <a:r>
              <a:rPr lang="en-IN" sz="1800" b="0" strike="noStrike" spc="-1">
                <a:solidFill>
                  <a:srgbClr val="000000"/>
                </a:solidFill>
                <a:latin typeface="Calibri"/>
              </a:rPr>
              <a:t> Note that we have expt data for only for 1kHz for IISc data</a:t>
            </a:r>
            <a:endParaRPr lang="en-IN" sz="1800" b="0" strike="noStrike" spc="-1">
              <a:solidFill>
                <a:srgbClr val="000000"/>
              </a:solidFill>
              <a:latin typeface="Arial"/>
            </a:endParaRPr>
          </a:p>
          <a:p>
            <a:endParaRPr lang="en-IN" sz="1800" b="0" strike="noStrike" spc="-1">
              <a:solidFill>
                <a:srgbClr val="000000"/>
              </a:solidFill>
              <a:latin typeface="Arial"/>
            </a:endParaRPr>
          </a:p>
        </p:txBody>
      </p:sp>
      <p:sp>
        <p:nvSpPr>
          <p:cNvPr id="99" name="TextBox 98"/>
          <p:cNvSpPr txBox="1"/>
          <p:nvPr/>
        </p:nvSpPr>
        <p:spPr>
          <a:xfrm>
            <a:off x="540000" y="5940000"/>
            <a:ext cx="11140920" cy="780480"/>
          </a:xfrm>
          <a:prstGeom prst="rect">
            <a:avLst/>
          </a:prstGeom>
          <a:noFill/>
          <a:ln w="0">
            <a:noFill/>
          </a:ln>
        </p:spPr>
        <p:txBody>
          <a:bodyPr lIns="90000" tIns="45000" rIns="90000" bIns="45000" anchor="t">
            <a:noAutofit/>
          </a:bodyPr>
          <a:lstStyle/>
          <a:p>
            <a:r>
              <a:rPr lang="en-IN" sz="1800" b="0" strike="noStrike" spc="-1">
                <a:solidFill>
                  <a:srgbClr val="000000"/>
                </a:solidFill>
                <a:latin typeface="Calibri"/>
              </a:rPr>
              <a:t>We are going ahead with rho = 1367 ohm m (but not giving any figures in the paper). This value seems to fit the SR results  best. Maybe the sample has degraded between the meaurement of hysterisis and meausrment of SR.</a:t>
            </a:r>
            <a:endParaRPr lang="en-IN" sz="1800" b="0" strike="noStrike" spc="-1">
              <a:solidFill>
                <a:srgbClr val="000000"/>
              </a:solidFill>
              <a:latin typeface="Arial"/>
            </a:endParaRPr>
          </a:p>
          <a:p>
            <a:endParaRPr lang="en-IN" sz="18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IN" sz="4400" b="0" strike="noStrike" spc="-1">
                <a:solidFill>
                  <a:srgbClr val="000000"/>
                </a:solidFill>
                <a:latin typeface="Calibri Light"/>
              </a:rPr>
              <a:t>Free energy density value</a:t>
            </a:r>
            <a:endParaRPr lang="en-US" sz="4400" b="0" strike="noStrike" spc="-1">
              <a:solidFill>
                <a:srgbClr val="000000"/>
              </a:solidFill>
              <a:latin typeface="Calibri"/>
            </a:endParaRPr>
          </a:p>
        </p:txBody>
      </p:sp>
      <p:pic>
        <p:nvPicPr>
          <p:cNvPr id="101" name="Content Placeholder 4"/>
          <p:cNvPicPr/>
          <p:nvPr/>
        </p:nvPicPr>
        <p:blipFill>
          <a:blip r:embed="rId2"/>
          <a:stretch/>
        </p:blipFill>
        <p:spPr>
          <a:xfrm>
            <a:off x="910080" y="1690560"/>
            <a:ext cx="6126840" cy="4350960"/>
          </a:xfrm>
          <a:prstGeom prst="rect">
            <a:avLst/>
          </a:prstGeom>
          <a:ln w="0">
            <a:noFill/>
          </a:ln>
        </p:spPr>
      </p:pic>
      <p:sp>
        <p:nvSpPr>
          <p:cNvPr id="102" name="TextBox 5"/>
          <p:cNvSpPr/>
          <p:nvPr/>
        </p:nvSpPr>
        <p:spPr>
          <a:xfrm>
            <a:off x="7793280" y="1690560"/>
            <a:ext cx="29527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a:solidFill>
                  <a:srgbClr val="000000"/>
                </a:solidFill>
                <a:latin typeface="Calibri"/>
              </a:rPr>
              <a:t>Order of magnitude check!</a:t>
            </a:r>
            <a:endParaRPr lang="en-IN" sz="1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Time series data Exp vs Num</a:t>
            </a:r>
            <a:endParaRPr lang="en-US" sz="4400" b="0" strike="noStrike" spc="-1">
              <a:solidFill>
                <a:srgbClr val="000000"/>
              </a:solidFill>
              <a:latin typeface="Calibri"/>
            </a:endParaRPr>
          </a:p>
        </p:txBody>
      </p:sp>
      <p:pic>
        <p:nvPicPr>
          <p:cNvPr id="104" name="Content Placeholder 4"/>
          <p:cNvPicPr/>
          <p:nvPr/>
        </p:nvPicPr>
        <p:blipFill>
          <a:blip r:embed="rId2"/>
          <a:stretch/>
        </p:blipFill>
        <p:spPr>
          <a:xfrm>
            <a:off x="838080" y="1787040"/>
            <a:ext cx="6620400" cy="3924360"/>
          </a:xfrm>
          <a:prstGeom prst="rect">
            <a:avLst/>
          </a:prstGeom>
          <a:ln w="0">
            <a:noFill/>
          </a:ln>
        </p:spPr>
      </p:pic>
      <p:sp>
        <p:nvSpPr>
          <p:cNvPr id="105" name="TextBox 6"/>
          <p:cNvSpPr/>
          <p:nvPr/>
        </p:nvSpPr>
        <p:spPr>
          <a:xfrm>
            <a:off x="7593480" y="2147760"/>
            <a:ext cx="295272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dirty="0">
                <a:solidFill>
                  <a:srgbClr val="000000"/>
                </a:solidFill>
                <a:latin typeface="Calibri"/>
              </a:rPr>
              <a:t>In numerical simulation the polarization value is bounded near to the </a:t>
            </a:r>
            <a:r>
              <a:rPr lang="en-IN" sz="1800" b="0" strike="noStrike" spc="-1" dirty="0" err="1">
                <a:solidFill>
                  <a:srgbClr val="000000"/>
                </a:solidFill>
                <a:latin typeface="Calibri"/>
              </a:rPr>
              <a:t>Pr</a:t>
            </a:r>
            <a:r>
              <a:rPr lang="en-IN" sz="1800" b="0" strike="noStrike" spc="-1" dirty="0">
                <a:solidFill>
                  <a:srgbClr val="000000"/>
                </a:solidFill>
                <a:latin typeface="Calibri"/>
              </a:rPr>
              <a:t> value</a:t>
            </a:r>
            <a:endParaRPr lang="en-IN" sz="1800" b="0" strike="noStrike" spc="-1" dirty="0">
              <a:solidFill>
                <a:srgbClr val="000000"/>
              </a:solidFill>
              <a:latin typeface="Arial"/>
            </a:endParaRPr>
          </a:p>
        </p:txBody>
      </p:sp>
      <p:sp>
        <p:nvSpPr>
          <p:cNvPr id="106" name="TextBox 8"/>
          <p:cNvSpPr/>
          <p:nvPr/>
        </p:nvSpPr>
        <p:spPr>
          <a:xfrm>
            <a:off x="7593480" y="5085360"/>
            <a:ext cx="2952720" cy="146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a:solidFill>
                  <a:srgbClr val="000000"/>
                </a:solidFill>
                <a:latin typeface="Calibri"/>
              </a:rPr>
              <a:t>In Experiment the polarization sometimes crosses the bound and goes to higher value compared to the Pr value</a:t>
            </a:r>
            <a:endParaRPr lang="en-IN" sz="1800" b="0" strike="noStrike" spc="-1">
              <a:solidFill>
                <a:srgbClr val="000000"/>
              </a:solidFill>
              <a:latin typeface="Arial"/>
            </a:endParaRPr>
          </a:p>
        </p:txBody>
      </p:sp>
      <p:pic>
        <p:nvPicPr>
          <p:cNvPr id="107" name="Picture 10"/>
          <p:cNvPicPr/>
          <p:nvPr/>
        </p:nvPicPr>
        <p:blipFill>
          <a:blip r:embed="rId3"/>
          <a:stretch/>
        </p:blipFill>
        <p:spPr>
          <a:xfrm>
            <a:off x="9610200" y="3234960"/>
            <a:ext cx="2400840" cy="1686240"/>
          </a:xfrm>
          <a:prstGeom prst="rect">
            <a:avLst/>
          </a:prstGeom>
          <a:ln w="0">
            <a:noFill/>
          </a:ln>
        </p:spPr>
      </p:pic>
      <p:cxnSp>
        <p:nvCxnSpPr>
          <p:cNvPr id="108" name="Straight Arrow Connector 12"/>
          <p:cNvCxnSpPr/>
          <p:nvPr/>
        </p:nvCxnSpPr>
        <p:spPr>
          <a:xfrm>
            <a:off x="9084960" y="3234600"/>
            <a:ext cx="2269080" cy="540720"/>
          </a:xfrm>
          <a:prstGeom prst="straightConnector1">
            <a:avLst/>
          </a:prstGeom>
          <a:ln>
            <a:solidFill>
              <a:srgbClr val="4472C4"/>
            </a:solidFill>
            <a:tailEnd type="triangle" w="med" len="med"/>
          </a:ln>
        </p:spPr>
      </p:cxnSp>
      <p:cxnSp>
        <p:nvCxnSpPr>
          <p:cNvPr id="109" name="Straight Arrow Connector 13"/>
          <p:cNvCxnSpPr/>
          <p:nvPr/>
        </p:nvCxnSpPr>
        <p:spPr>
          <a:xfrm flipV="1">
            <a:off x="9943560" y="4564440"/>
            <a:ext cx="404640" cy="1113120"/>
          </a:xfrm>
          <a:prstGeom prst="straightConnector1">
            <a:avLst/>
          </a:prstGeom>
          <a:ln>
            <a:solidFill>
              <a:srgbClr val="4472C4"/>
            </a:solidFill>
            <a:tailEnd type="triangle" w="med" len="med"/>
          </a:ln>
        </p:spPr>
      </p:cxnSp>
      <p:sp>
        <p:nvSpPr>
          <p:cNvPr id="110" name="TextBox 17"/>
          <p:cNvSpPr/>
          <p:nvPr/>
        </p:nvSpPr>
        <p:spPr>
          <a:xfrm>
            <a:off x="10347840" y="4854600"/>
            <a:ext cx="20160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a:solidFill>
                  <a:srgbClr val="000000"/>
                </a:solidFill>
                <a:latin typeface="Calibri"/>
              </a:rPr>
              <a:t>Reason: the fit is not capturing the dielectric loss</a:t>
            </a:r>
            <a:endParaRPr lang="en-IN" sz="18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1325160"/>
          </a:xfrm>
          <a:prstGeom prst="rect">
            <a:avLst/>
          </a:prstGeom>
          <a:noFill/>
          <a:ln w="0">
            <a:noFill/>
          </a:ln>
        </p:spPr>
        <p:txBody>
          <a:bodyPr anchor="ctr">
            <a:noAutofit/>
          </a:bodyPr>
          <a:lstStyle/>
          <a:p>
            <a:pPr indent="0">
              <a:lnSpc>
                <a:spcPct val="90000"/>
              </a:lnSpc>
              <a:buNone/>
            </a:pPr>
            <a:r>
              <a:rPr lang="en-US" sz="4400" b="0" strike="noStrike" spc="-1">
                <a:solidFill>
                  <a:srgbClr val="000000"/>
                </a:solidFill>
                <a:latin typeface="Calibri Light"/>
              </a:rPr>
              <a:t>FSK SNR of the signal improves or not?</a:t>
            </a:r>
            <a:endParaRPr lang="en-US" sz="4400" b="0" strike="noStrike" spc="-1">
              <a:solidFill>
                <a:srgbClr val="000000"/>
              </a:solidFill>
              <a:latin typeface="Calibri"/>
            </a:endParaRPr>
          </a:p>
        </p:txBody>
      </p:sp>
      <p:pic>
        <p:nvPicPr>
          <p:cNvPr id="112" name="Content Placeholder 4"/>
          <p:cNvPicPr/>
          <p:nvPr/>
        </p:nvPicPr>
        <p:blipFill>
          <a:blip r:embed="rId2"/>
          <a:stretch/>
        </p:blipFill>
        <p:spPr>
          <a:xfrm>
            <a:off x="838080" y="1506960"/>
            <a:ext cx="8254440" cy="491364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6C0B3-2DAB-BF01-6478-FD5C7C03212D}"/>
            </a:ext>
          </a:extLst>
        </p:cNvPr>
        <p:cNvGrpSpPr/>
        <p:nvPr/>
      </p:nvGrpSpPr>
      <p:grpSpPr>
        <a:xfrm>
          <a:off x="0" y="0"/>
          <a:ext cx="0" cy="0"/>
          <a:chOff x="0" y="0"/>
          <a:chExt cx="0" cy="0"/>
        </a:xfrm>
      </p:grpSpPr>
      <p:pic>
        <p:nvPicPr>
          <p:cNvPr id="6" name="Picture 5" descr="A graph of a graph&#10;&#10;AI-generated content may be incorrect.">
            <a:extLst>
              <a:ext uri="{FF2B5EF4-FFF2-40B4-BE49-F238E27FC236}">
                <a16:creationId xmlns:a16="http://schemas.microsoft.com/office/drawing/2014/main" id="{27B9F6D2-ECFD-FCED-F5FB-CE5836E02361}"/>
              </a:ext>
            </a:extLst>
          </p:cNvPr>
          <p:cNvPicPr>
            <a:picLocks noChangeAspect="1"/>
          </p:cNvPicPr>
          <p:nvPr/>
        </p:nvPicPr>
        <p:blipFill>
          <a:blip r:embed="rId3"/>
          <a:stretch>
            <a:fillRect/>
          </a:stretch>
        </p:blipFill>
        <p:spPr>
          <a:xfrm>
            <a:off x="163349" y="1336189"/>
            <a:ext cx="8139420" cy="2219842"/>
          </a:xfrm>
          <a:prstGeom prst="rect">
            <a:avLst/>
          </a:prstGeom>
        </p:spPr>
      </p:pic>
      <p:sp>
        <p:nvSpPr>
          <p:cNvPr id="111" name="PlaceHolder 1">
            <a:extLst>
              <a:ext uri="{FF2B5EF4-FFF2-40B4-BE49-F238E27FC236}">
                <a16:creationId xmlns:a16="http://schemas.microsoft.com/office/drawing/2014/main" id="{68A170A3-B327-AAC3-139B-100AF2EDB045}"/>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pc="-1" dirty="0">
                <a:solidFill>
                  <a:srgbClr val="000000"/>
                </a:solidFill>
                <a:latin typeface="Calibri Light"/>
              </a:rPr>
              <a:t>Effect of rho in SR</a:t>
            </a:r>
            <a:endParaRPr lang="en-US" sz="440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86E9330C-D487-EB1E-D503-A75CC2E830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53212" y="1577666"/>
            <a:ext cx="3975439" cy="1791432"/>
          </a:xfrm>
          <a:prstGeom prst="rect">
            <a:avLst/>
          </a:prstGeom>
        </p:spPr>
      </p:pic>
      <p:sp>
        <p:nvSpPr>
          <p:cNvPr id="4" name="TextBox 3">
            <a:extLst>
              <a:ext uri="{FF2B5EF4-FFF2-40B4-BE49-F238E27FC236}">
                <a16:creationId xmlns:a16="http://schemas.microsoft.com/office/drawing/2014/main" id="{BC95A842-2C25-C086-BECD-29E942C83EE9}"/>
              </a:ext>
            </a:extLst>
          </p:cNvPr>
          <p:cNvSpPr txBox="1"/>
          <p:nvPr/>
        </p:nvSpPr>
        <p:spPr>
          <a:xfrm>
            <a:off x="8270384" y="3335843"/>
            <a:ext cx="3758267" cy="923330"/>
          </a:xfrm>
          <a:prstGeom prst="rect">
            <a:avLst/>
          </a:prstGeom>
          <a:noFill/>
        </p:spPr>
        <p:txBody>
          <a:bodyPr wrap="square" rtlCol="0">
            <a:spAutoFit/>
          </a:bodyPr>
          <a:lstStyle/>
          <a:p>
            <a:r>
              <a:rPr lang="en-IN" dirty="0"/>
              <a:t>Re-arranging </a:t>
            </a:r>
            <a:r>
              <a:rPr lang="en-IN" dirty="0" err="1"/>
              <a:t>Ktime</a:t>
            </a:r>
            <a:r>
              <a:rPr lang="en-IN" dirty="0"/>
              <a:t> formula, rho dependency is very less when indicated in terms of </a:t>
            </a:r>
            <a:r>
              <a:rPr lang="en-IN" dirty="0" err="1"/>
              <a:t>Dext</a:t>
            </a:r>
            <a:r>
              <a:rPr lang="en-IN" dirty="0"/>
              <a:t>/</a:t>
            </a:r>
            <a:r>
              <a:rPr lang="en-IN" dirty="0" err="1"/>
              <a:t>DelF</a:t>
            </a:r>
            <a:endParaRPr lang="en-IN" dirty="0"/>
          </a:p>
        </p:txBody>
      </p:sp>
      <p:pic>
        <p:nvPicPr>
          <p:cNvPr id="8" name="Picture 7" descr="A graph of a number of numbers&#10;&#10;AI-generated content may be incorrect.">
            <a:extLst>
              <a:ext uri="{FF2B5EF4-FFF2-40B4-BE49-F238E27FC236}">
                <a16:creationId xmlns:a16="http://schemas.microsoft.com/office/drawing/2014/main" id="{8E60BF65-654A-26F3-856E-BA46180806F2}"/>
              </a:ext>
            </a:extLst>
          </p:cNvPr>
          <p:cNvPicPr>
            <a:picLocks noChangeAspect="1"/>
          </p:cNvPicPr>
          <p:nvPr/>
        </p:nvPicPr>
        <p:blipFill>
          <a:blip r:embed="rId5"/>
          <a:stretch>
            <a:fillRect/>
          </a:stretch>
        </p:blipFill>
        <p:spPr>
          <a:xfrm>
            <a:off x="0" y="3556031"/>
            <a:ext cx="8139420" cy="2247198"/>
          </a:xfrm>
          <a:prstGeom prst="rect">
            <a:avLst/>
          </a:prstGeom>
        </p:spPr>
      </p:pic>
      <p:sp>
        <p:nvSpPr>
          <p:cNvPr id="9" name="TextBox 8">
            <a:extLst>
              <a:ext uri="{FF2B5EF4-FFF2-40B4-BE49-F238E27FC236}">
                <a16:creationId xmlns:a16="http://schemas.microsoft.com/office/drawing/2014/main" id="{B232D41C-F299-0F73-3F0E-5BDFC8EF54D2}"/>
              </a:ext>
            </a:extLst>
          </p:cNvPr>
          <p:cNvSpPr txBox="1"/>
          <p:nvPr/>
        </p:nvSpPr>
        <p:spPr>
          <a:xfrm>
            <a:off x="5577388" y="5775873"/>
            <a:ext cx="3758267" cy="646331"/>
          </a:xfrm>
          <a:prstGeom prst="rect">
            <a:avLst/>
          </a:prstGeom>
          <a:noFill/>
        </p:spPr>
        <p:txBody>
          <a:bodyPr wrap="square" rtlCol="0">
            <a:spAutoFit/>
          </a:bodyPr>
          <a:lstStyle/>
          <a:p>
            <a:r>
              <a:rPr lang="en-IN" dirty="0">
                <a:highlight>
                  <a:srgbClr val="FFFF00"/>
                </a:highlight>
              </a:rPr>
              <a:t>Difference is visible when shown in terms of </a:t>
            </a:r>
            <a:r>
              <a:rPr lang="en-IN" dirty="0" err="1">
                <a:highlight>
                  <a:srgbClr val="FFFF00"/>
                </a:highlight>
              </a:rPr>
              <a:t>Vrms</a:t>
            </a:r>
            <a:r>
              <a:rPr lang="en-IN" dirty="0">
                <a:highlight>
                  <a:srgbClr val="FFFF00"/>
                </a:highlight>
              </a:rPr>
              <a:t> (SD)</a:t>
            </a:r>
          </a:p>
        </p:txBody>
      </p:sp>
    </p:spTree>
    <p:extLst>
      <p:ext uri="{BB962C8B-B14F-4D97-AF65-F5344CB8AC3E}">
        <p14:creationId xmlns:p14="http://schemas.microsoft.com/office/powerpoint/2010/main" val="802177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8ACB-4327-8999-3D1D-D27C824C015F}"/>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CD143C91-351B-2E2A-F1EB-0C77434B6376}"/>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pc="-1" dirty="0">
                <a:solidFill>
                  <a:srgbClr val="000000"/>
                </a:solidFill>
                <a:latin typeface="Calibri Light"/>
              </a:rPr>
              <a:t>Noise Characterization</a:t>
            </a:r>
            <a:endParaRPr lang="en-US" sz="4400" b="0" strike="noStrike" spc="-1" dirty="0">
              <a:solidFill>
                <a:srgbClr val="000000"/>
              </a:solidFill>
              <a:latin typeface="Calibri"/>
            </a:endParaRPr>
          </a:p>
        </p:txBody>
      </p:sp>
      <p:pic>
        <p:nvPicPr>
          <p:cNvPr id="5" name="Picture 4">
            <a:extLst>
              <a:ext uri="{FF2B5EF4-FFF2-40B4-BE49-F238E27FC236}">
                <a16:creationId xmlns:a16="http://schemas.microsoft.com/office/drawing/2014/main" id="{FB7529B9-5EDD-CBAB-D649-6B49A2B21A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5930" y="2123294"/>
            <a:ext cx="9420139" cy="2918582"/>
          </a:xfrm>
          <a:prstGeom prst="rect">
            <a:avLst/>
          </a:prstGeom>
        </p:spPr>
      </p:pic>
      <p:sp>
        <p:nvSpPr>
          <p:cNvPr id="7" name="TextBox 6">
            <a:extLst>
              <a:ext uri="{FF2B5EF4-FFF2-40B4-BE49-F238E27FC236}">
                <a16:creationId xmlns:a16="http://schemas.microsoft.com/office/drawing/2014/main" id="{DF5CAB8E-F92F-F766-D374-E0A593D22EE0}"/>
              </a:ext>
            </a:extLst>
          </p:cNvPr>
          <p:cNvSpPr txBox="1"/>
          <p:nvPr/>
        </p:nvSpPr>
        <p:spPr>
          <a:xfrm>
            <a:off x="1861066" y="5002519"/>
            <a:ext cx="3080050" cy="1477328"/>
          </a:xfrm>
          <a:prstGeom prst="rect">
            <a:avLst/>
          </a:prstGeom>
          <a:noFill/>
        </p:spPr>
        <p:txBody>
          <a:bodyPr wrap="square" rtlCol="0">
            <a:spAutoFit/>
          </a:bodyPr>
          <a:lstStyle/>
          <a:p>
            <a:r>
              <a:rPr lang="en-IN" dirty="0">
                <a:highlight>
                  <a:srgbClr val="FFFF00"/>
                </a:highlight>
              </a:rPr>
              <a:t>Note: 3dB BW is not exactly 10 kHz, it is close to 5kHz. But in calculation we are going with the assumption that BW is same as 1/dt</a:t>
            </a:r>
          </a:p>
        </p:txBody>
      </p:sp>
      <p:sp>
        <p:nvSpPr>
          <p:cNvPr id="10" name="TextBox 9">
            <a:extLst>
              <a:ext uri="{FF2B5EF4-FFF2-40B4-BE49-F238E27FC236}">
                <a16:creationId xmlns:a16="http://schemas.microsoft.com/office/drawing/2014/main" id="{8BF20551-61EC-BA19-CD68-772E4400D42F}"/>
              </a:ext>
            </a:extLst>
          </p:cNvPr>
          <p:cNvSpPr txBox="1"/>
          <p:nvPr/>
        </p:nvSpPr>
        <p:spPr>
          <a:xfrm>
            <a:off x="4999946" y="5002519"/>
            <a:ext cx="2768260" cy="923330"/>
          </a:xfrm>
          <a:prstGeom prst="rect">
            <a:avLst/>
          </a:prstGeom>
          <a:noFill/>
        </p:spPr>
        <p:txBody>
          <a:bodyPr wrap="square" rtlCol="0">
            <a:spAutoFit/>
          </a:bodyPr>
          <a:lstStyle/>
          <a:p>
            <a:r>
              <a:rPr lang="en-IN" dirty="0">
                <a:highlight>
                  <a:srgbClr val="FFFF00"/>
                </a:highlight>
              </a:rPr>
              <a:t>Only the corrected SD will match the amplitude distribution</a:t>
            </a:r>
          </a:p>
        </p:txBody>
      </p:sp>
      <p:sp>
        <p:nvSpPr>
          <p:cNvPr id="11" name="TextBox 10">
            <a:extLst>
              <a:ext uri="{FF2B5EF4-FFF2-40B4-BE49-F238E27FC236}">
                <a16:creationId xmlns:a16="http://schemas.microsoft.com/office/drawing/2014/main" id="{8CFFDBC7-728A-795D-1963-B031FBBE5849}"/>
              </a:ext>
            </a:extLst>
          </p:cNvPr>
          <p:cNvSpPr txBox="1"/>
          <p:nvPr/>
        </p:nvSpPr>
        <p:spPr>
          <a:xfrm>
            <a:off x="741136" y="1199964"/>
            <a:ext cx="2239860" cy="923330"/>
          </a:xfrm>
          <a:prstGeom prst="rect">
            <a:avLst/>
          </a:prstGeom>
          <a:noFill/>
        </p:spPr>
        <p:txBody>
          <a:bodyPr wrap="square" rtlCol="0">
            <a:spAutoFit/>
          </a:bodyPr>
          <a:lstStyle/>
          <a:p>
            <a:r>
              <a:rPr lang="en-IN" dirty="0"/>
              <a:t>How noise is generated for simulation ?</a:t>
            </a:r>
          </a:p>
        </p:txBody>
      </p:sp>
      <p:sp>
        <p:nvSpPr>
          <p:cNvPr id="12" name="Rectangle: Rounded Corners 11">
            <a:extLst>
              <a:ext uri="{FF2B5EF4-FFF2-40B4-BE49-F238E27FC236}">
                <a16:creationId xmlns:a16="http://schemas.microsoft.com/office/drawing/2014/main" id="{E26CEC10-E105-7F76-5484-E48972F34E07}"/>
              </a:ext>
            </a:extLst>
          </p:cNvPr>
          <p:cNvSpPr/>
          <p:nvPr/>
        </p:nvSpPr>
        <p:spPr>
          <a:xfrm>
            <a:off x="2533476" y="1239321"/>
            <a:ext cx="1501629" cy="782426"/>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N samples from</a:t>
            </a:r>
          </a:p>
          <a:p>
            <a:pPr algn="ctr"/>
            <a:r>
              <a:rPr lang="en-IN" sz="1200" dirty="0"/>
              <a:t>WGD</a:t>
            </a:r>
          </a:p>
        </p:txBody>
      </p:sp>
      <p:sp>
        <p:nvSpPr>
          <p:cNvPr id="13" name="Rectangle: Rounded Corners 12">
            <a:extLst>
              <a:ext uri="{FF2B5EF4-FFF2-40B4-BE49-F238E27FC236}">
                <a16:creationId xmlns:a16="http://schemas.microsoft.com/office/drawing/2014/main" id="{B189354B-0BE1-D983-2E85-C0ED1473CBB0}"/>
              </a:ext>
            </a:extLst>
          </p:cNvPr>
          <p:cNvSpPr/>
          <p:nvPr/>
        </p:nvSpPr>
        <p:spPr>
          <a:xfrm>
            <a:off x="4610293" y="1239321"/>
            <a:ext cx="2045515" cy="782426"/>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Zero hold interpolation for (Sample rate/ simulation time step)</a:t>
            </a:r>
          </a:p>
        </p:txBody>
      </p:sp>
      <p:cxnSp>
        <p:nvCxnSpPr>
          <p:cNvPr id="15" name="Straight Arrow Connector 14">
            <a:extLst>
              <a:ext uri="{FF2B5EF4-FFF2-40B4-BE49-F238E27FC236}">
                <a16:creationId xmlns:a16="http://schemas.microsoft.com/office/drawing/2014/main" id="{8CDFA636-2B4A-6CEE-14C2-0D83654ADCEF}"/>
              </a:ext>
            </a:extLst>
          </p:cNvPr>
          <p:cNvCxnSpPr>
            <a:stCxn id="12" idx="3"/>
            <a:endCxn id="13" idx="1"/>
          </p:cNvCxnSpPr>
          <p:nvPr/>
        </p:nvCxnSpPr>
        <p:spPr>
          <a:xfrm>
            <a:off x="4035105" y="1630534"/>
            <a:ext cx="5751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C9FDC9E-16C3-9FB4-EADA-43FF0F202DFF}"/>
              </a:ext>
            </a:extLst>
          </p:cNvPr>
          <p:cNvSpPr txBox="1"/>
          <p:nvPr/>
        </p:nvSpPr>
        <p:spPr>
          <a:xfrm>
            <a:off x="7762993" y="1168869"/>
            <a:ext cx="4518490" cy="923330"/>
          </a:xfrm>
          <a:prstGeom prst="rect">
            <a:avLst/>
          </a:prstGeom>
          <a:noFill/>
        </p:spPr>
        <p:txBody>
          <a:bodyPr wrap="square" rtlCol="0">
            <a:spAutoFit/>
          </a:bodyPr>
          <a:lstStyle/>
          <a:p>
            <a:r>
              <a:rPr lang="en-IN" dirty="0">
                <a:highlight>
                  <a:srgbClr val="FFFF00"/>
                </a:highlight>
              </a:rPr>
              <a:t>This is not an ideal white noise, we are following this methodology to reproduce the experimental conditions </a:t>
            </a:r>
          </a:p>
        </p:txBody>
      </p:sp>
    </p:spTree>
    <p:extLst>
      <p:ext uri="{BB962C8B-B14F-4D97-AF65-F5344CB8AC3E}">
        <p14:creationId xmlns:p14="http://schemas.microsoft.com/office/powerpoint/2010/main" val="161625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A7CD5-1310-69D8-0082-A8300BC61C47}"/>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604D6B5B-B25F-854E-A769-48477D885042}"/>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pc="-1" dirty="0">
                <a:solidFill>
                  <a:srgbClr val="000000"/>
                </a:solidFill>
                <a:latin typeface="Calibri Light"/>
              </a:rPr>
              <a:t>Noise Characterization</a:t>
            </a:r>
            <a:endParaRPr lang="en-US" sz="440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46180E89-5339-80BB-E0F9-D085126AD9B1}"/>
              </a:ext>
            </a:extLst>
          </p:cNvPr>
          <p:cNvPicPr>
            <a:picLocks noChangeAspect="1"/>
          </p:cNvPicPr>
          <p:nvPr/>
        </p:nvPicPr>
        <p:blipFill>
          <a:blip r:embed="rId3">
            <a:extLst>
              <a:ext uri="{28A0092B-C50C-407E-A947-70E740481C1C}">
                <a14:useLocalDpi xmlns:a14="http://schemas.microsoft.com/office/drawing/2010/main" val="0"/>
              </a:ext>
            </a:extLst>
          </a:blip>
          <a:srcRect t="5872" b="13639"/>
          <a:stretch>
            <a:fillRect/>
          </a:stretch>
        </p:blipFill>
        <p:spPr>
          <a:xfrm>
            <a:off x="3565411" y="1140903"/>
            <a:ext cx="3855749" cy="5519956"/>
          </a:xfrm>
          <a:prstGeom prst="rect">
            <a:avLst/>
          </a:prstGeom>
        </p:spPr>
      </p:pic>
      <p:pic>
        <p:nvPicPr>
          <p:cNvPr id="6" name="Picture 5">
            <a:extLst>
              <a:ext uri="{FF2B5EF4-FFF2-40B4-BE49-F238E27FC236}">
                <a16:creationId xmlns:a16="http://schemas.microsoft.com/office/drawing/2014/main" id="{426EDCEA-EA2C-9EC1-7C2B-0DD8BC98AC69}"/>
              </a:ext>
            </a:extLst>
          </p:cNvPr>
          <p:cNvPicPr>
            <a:picLocks noChangeAspect="1"/>
          </p:cNvPicPr>
          <p:nvPr/>
        </p:nvPicPr>
        <p:blipFill>
          <a:blip r:embed="rId4">
            <a:extLst>
              <a:ext uri="{28A0092B-C50C-407E-A947-70E740481C1C}">
                <a14:useLocalDpi xmlns:a14="http://schemas.microsoft.com/office/drawing/2010/main" val="0"/>
              </a:ext>
            </a:extLst>
          </a:blip>
          <a:srcRect t="5902" b="19511"/>
          <a:stretch>
            <a:fillRect/>
          </a:stretch>
        </p:blipFill>
        <p:spPr>
          <a:xfrm>
            <a:off x="7583647" y="1140903"/>
            <a:ext cx="4160857" cy="5519956"/>
          </a:xfrm>
          <a:prstGeom prst="rect">
            <a:avLst/>
          </a:prstGeom>
        </p:spPr>
      </p:pic>
      <p:pic>
        <p:nvPicPr>
          <p:cNvPr id="9" name="Picture 8">
            <a:extLst>
              <a:ext uri="{FF2B5EF4-FFF2-40B4-BE49-F238E27FC236}">
                <a16:creationId xmlns:a16="http://schemas.microsoft.com/office/drawing/2014/main" id="{12BF26DD-2CA3-1609-65FF-711A6799BBF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888" y="2841771"/>
            <a:ext cx="2835198" cy="2118220"/>
          </a:xfrm>
          <a:prstGeom prst="rect">
            <a:avLst/>
          </a:prstGeom>
        </p:spPr>
      </p:pic>
      <p:pic>
        <p:nvPicPr>
          <p:cNvPr id="16" name="Picture 15">
            <a:extLst>
              <a:ext uri="{FF2B5EF4-FFF2-40B4-BE49-F238E27FC236}">
                <a16:creationId xmlns:a16="http://schemas.microsoft.com/office/drawing/2014/main" id="{2794062F-286C-F3B9-EE57-8F50CAC60B4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0888" y="5266407"/>
            <a:ext cx="3066026" cy="1394452"/>
          </a:xfrm>
          <a:prstGeom prst="rect">
            <a:avLst/>
          </a:prstGeom>
        </p:spPr>
      </p:pic>
    </p:spTree>
    <p:extLst>
      <p:ext uri="{BB962C8B-B14F-4D97-AF65-F5344CB8AC3E}">
        <p14:creationId xmlns:p14="http://schemas.microsoft.com/office/powerpoint/2010/main" val="3596754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3ECE3-64BF-C90E-9741-5F9FF53A27C7}"/>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F1F732F0-C154-2369-2F71-917D9338779A}"/>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z="4400" b="0" strike="noStrike" spc="-1" dirty="0">
                <a:solidFill>
                  <a:srgbClr val="000000"/>
                </a:solidFill>
                <a:latin typeface="Calibri Light"/>
              </a:rPr>
              <a:t>Found an inconsistency in our assumptions </a:t>
            </a:r>
            <a:endParaRPr lang="en-US" sz="4400" b="0" strike="noStrike" spc="-1" dirty="0">
              <a:solidFill>
                <a:srgbClr val="000000"/>
              </a:solidFill>
              <a:latin typeface="Calibri"/>
            </a:endParaRPr>
          </a:p>
        </p:txBody>
      </p:sp>
      <p:pic>
        <p:nvPicPr>
          <p:cNvPr id="3" name="Picture 2">
            <a:extLst>
              <a:ext uri="{FF2B5EF4-FFF2-40B4-BE49-F238E27FC236}">
                <a16:creationId xmlns:a16="http://schemas.microsoft.com/office/drawing/2014/main" id="{BBE3D735-A0A8-9E24-314C-C4CC512A05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799" y="1423987"/>
            <a:ext cx="6032504" cy="1658938"/>
          </a:xfrm>
          <a:prstGeom prst="rect">
            <a:avLst/>
          </a:prstGeom>
        </p:spPr>
      </p:pic>
      <p:pic>
        <p:nvPicPr>
          <p:cNvPr id="6" name="Picture 5">
            <a:extLst>
              <a:ext uri="{FF2B5EF4-FFF2-40B4-BE49-F238E27FC236}">
                <a16:creationId xmlns:a16="http://schemas.microsoft.com/office/drawing/2014/main" id="{4C1977D9-4FF6-E0CF-3959-577819F45D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4799" y="3192386"/>
            <a:ext cx="6032504" cy="1658938"/>
          </a:xfrm>
          <a:prstGeom prst="rect">
            <a:avLst/>
          </a:prstGeom>
        </p:spPr>
      </p:pic>
      <p:pic>
        <p:nvPicPr>
          <p:cNvPr id="9" name="Picture 8">
            <a:extLst>
              <a:ext uri="{FF2B5EF4-FFF2-40B4-BE49-F238E27FC236}">
                <a16:creationId xmlns:a16="http://schemas.microsoft.com/office/drawing/2014/main" id="{A5F1E89B-149A-4B6B-4A0A-96ACDAD2A9D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799" y="4960785"/>
            <a:ext cx="6032504" cy="1658938"/>
          </a:xfrm>
          <a:prstGeom prst="rect">
            <a:avLst/>
          </a:prstGeom>
        </p:spPr>
      </p:pic>
      <p:sp>
        <p:nvSpPr>
          <p:cNvPr id="14" name="TextBox 13">
            <a:extLst>
              <a:ext uri="{FF2B5EF4-FFF2-40B4-BE49-F238E27FC236}">
                <a16:creationId xmlns:a16="http://schemas.microsoft.com/office/drawing/2014/main" id="{5397B1AD-566F-FEC6-8482-19DA6E511CA6}"/>
              </a:ext>
            </a:extLst>
          </p:cNvPr>
          <p:cNvSpPr txBox="1"/>
          <p:nvPr/>
        </p:nvSpPr>
        <p:spPr>
          <a:xfrm>
            <a:off x="6731147" y="1054655"/>
            <a:ext cx="1313895" cy="369332"/>
          </a:xfrm>
          <a:prstGeom prst="rect">
            <a:avLst/>
          </a:prstGeom>
          <a:noFill/>
        </p:spPr>
        <p:txBody>
          <a:bodyPr wrap="square" rtlCol="0">
            <a:spAutoFit/>
          </a:bodyPr>
          <a:lstStyle/>
          <a:p>
            <a:r>
              <a:rPr lang="en-IN" dirty="0">
                <a:highlight>
                  <a:srgbClr val="FFFF00"/>
                </a:highlight>
              </a:rPr>
              <a:t>Noise BW</a:t>
            </a:r>
          </a:p>
        </p:txBody>
      </p:sp>
      <p:sp>
        <p:nvSpPr>
          <p:cNvPr id="16" name="TextBox 15">
            <a:extLst>
              <a:ext uri="{FF2B5EF4-FFF2-40B4-BE49-F238E27FC236}">
                <a16:creationId xmlns:a16="http://schemas.microsoft.com/office/drawing/2014/main" id="{33FED09D-1FE8-2067-EE4B-4DA41DDFEF5A}"/>
              </a:ext>
            </a:extLst>
          </p:cNvPr>
          <p:cNvSpPr txBox="1"/>
          <p:nvPr/>
        </p:nvSpPr>
        <p:spPr>
          <a:xfrm>
            <a:off x="6731147" y="2436288"/>
            <a:ext cx="1313895" cy="369332"/>
          </a:xfrm>
          <a:prstGeom prst="rect">
            <a:avLst/>
          </a:prstGeom>
          <a:noFill/>
        </p:spPr>
        <p:txBody>
          <a:bodyPr wrap="square" rtlCol="0">
            <a:spAutoFit/>
          </a:bodyPr>
          <a:lstStyle/>
          <a:p>
            <a:r>
              <a:rPr lang="en-IN" dirty="0">
                <a:highlight>
                  <a:srgbClr val="FFFF00"/>
                </a:highlight>
              </a:rPr>
              <a:t>10 kHz</a:t>
            </a:r>
          </a:p>
        </p:txBody>
      </p:sp>
      <p:sp>
        <p:nvSpPr>
          <p:cNvPr id="18" name="TextBox 17">
            <a:extLst>
              <a:ext uri="{FF2B5EF4-FFF2-40B4-BE49-F238E27FC236}">
                <a16:creationId xmlns:a16="http://schemas.microsoft.com/office/drawing/2014/main" id="{0624B89C-F8AB-29C6-E3B4-BFD158E40723}"/>
              </a:ext>
            </a:extLst>
          </p:cNvPr>
          <p:cNvSpPr txBox="1"/>
          <p:nvPr/>
        </p:nvSpPr>
        <p:spPr>
          <a:xfrm>
            <a:off x="6731147" y="4241319"/>
            <a:ext cx="1313895" cy="369332"/>
          </a:xfrm>
          <a:prstGeom prst="rect">
            <a:avLst/>
          </a:prstGeom>
          <a:noFill/>
        </p:spPr>
        <p:txBody>
          <a:bodyPr wrap="square" rtlCol="0">
            <a:spAutoFit/>
          </a:bodyPr>
          <a:lstStyle/>
          <a:p>
            <a:r>
              <a:rPr lang="en-IN" dirty="0">
                <a:highlight>
                  <a:srgbClr val="FFFF00"/>
                </a:highlight>
              </a:rPr>
              <a:t>100 kHz</a:t>
            </a:r>
          </a:p>
        </p:txBody>
      </p:sp>
      <p:sp>
        <p:nvSpPr>
          <p:cNvPr id="19" name="TextBox 18">
            <a:extLst>
              <a:ext uri="{FF2B5EF4-FFF2-40B4-BE49-F238E27FC236}">
                <a16:creationId xmlns:a16="http://schemas.microsoft.com/office/drawing/2014/main" id="{589AFDF3-219D-DF00-CD13-DB021913AB36}"/>
              </a:ext>
            </a:extLst>
          </p:cNvPr>
          <p:cNvSpPr txBox="1"/>
          <p:nvPr/>
        </p:nvSpPr>
        <p:spPr>
          <a:xfrm>
            <a:off x="6731147" y="6046350"/>
            <a:ext cx="1313895" cy="369332"/>
          </a:xfrm>
          <a:prstGeom prst="rect">
            <a:avLst/>
          </a:prstGeom>
          <a:noFill/>
        </p:spPr>
        <p:txBody>
          <a:bodyPr wrap="square" rtlCol="0">
            <a:spAutoFit/>
          </a:bodyPr>
          <a:lstStyle/>
          <a:p>
            <a:r>
              <a:rPr lang="en-IN" dirty="0">
                <a:highlight>
                  <a:srgbClr val="FFFF00"/>
                </a:highlight>
              </a:rPr>
              <a:t>1 MHz</a:t>
            </a:r>
          </a:p>
        </p:txBody>
      </p:sp>
      <p:sp>
        <p:nvSpPr>
          <p:cNvPr id="20" name="TextBox 6">
            <a:extLst>
              <a:ext uri="{FF2B5EF4-FFF2-40B4-BE49-F238E27FC236}">
                <a16:creationId xmlns:a16="http://schemas.microsoft.com/office/drawing/2014/main" id="{9EF546C3-5375-E4D0-9F3E-E2589A7C68FD}"/>
              </a:ext>
            </a:extLst>
          </p:cNvPr>
          <p:cNvSpPr/>
          <p:nvPr/>
        </p:nvSpPr>
        <p:spPr>
          <a:xfrm>
            <a:off x="6727494" y="4795894"/>
            <a:ext cx="1870745" cy="119887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800" b="0" strike="noStrike" spc="-1" dirty="0">
                <a:solidFill>
                  <a:srgbClr val="000000"/>
                </a:solidFill>
                <a:latin typeface="Calibri"/>
              </a:rPr>
              <a:t>The SR peak prediction point is aligning only for higher BW noise</a:t>
            </a:r>
            <a:endParaRPr lang="en-IN" sz="1800" b="0" strike="noStrike" spc="-1" dirty="0">
              <a:solidFill>
                <a:srgbClr val="000000"/>
              </a:solidFill>
              <a:latin typeface="Arial"/>
            </a:endParaRPr>
          </a:p>
        </p:txBody>
      </p:sp>
      <p:sp>
        <p:nvSpPr>
          <p:cNvPr id="21" name="TextBox 6">
            <a:extLst>
              <a:ext uri="{FF2B5EF4-FFF2-40B4-BE49-F238E27FC236}">
                <a16:creationId xmlns:a16="http://schemas.microsoft.com/office/drawing/2014/main" id="{B93F565C-77D1-CEE8-B9DB-A20971D48A83}"/>
              </a:ext>
            </a:extLst>
          </p:cNvPr>
          <p:cNvSpPr/>
          <p:nvPr/>
        </p:nvSpPr>
        <p:spPr>
          <a:xfrm>
            <a:off x="8849909" y="1800820"/>
            <a:ext cx="2952720" cy="147587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dirty="0">
                <a:solidFill>
                  <a:srgbClr val="000000"/>
                </a:solidFill>
                <a:highlight>
                  <a:srgbClr val="00FF00"/>
                </a:highlight>
                <a:latin typeface="Calibri"/>
              </a:rPr>
              <a:t>Take away: we can’t assume </a:t>
            </a:r>
            <a:r>
              <a:rPr lang="en-IN" spc="-1" dirty="0">
                <a:solidFill>
                  <a:srgbClr val="000000"/>
                </a:solidFill>
                <a:highlight>
                  <a:srgbClr val="00FF00"/>
                </a:highlight>
                <a:latin typeface="Calibri"/>
              </a:rPr>
              <a:t>K</a:t>
            </a:r>
            <a:r>
              <a:rPr lang="en-IN" sz="1800" b="0" strike="noStrike" spc="-1" dirty="0">
                <a:solidFill>
                  <a:srgbClr val="000000"/>
                </a:solidFill>
                <a:highlight>
                  <a:srgbClr val="00FF00"/>
                </a:highlight>
                <a:latin typeface="Calibri"/>
              </a:rPr>
              <a:t>ramers rate formula for a bandlimited noise. The prediction is off by orders of magnitudes.</a:t>
            </a:r>
            <a:endParaRPr lang="en-IN" sz="1800" b="0" strike="noStrike" spc="-1" dirty="0">
              <a:solidFill>
                <a:srgbClr val="000000"/>
              </a:solidFill>
              <a:highlight>
                <a:srgbClr val="00FF00"/>
              </a:highlight>
              <a:latin typeface="Arial"/>
            </a:endParaRPr>
          </a:p>
        </p:txBody>
      </p:sp>
      <p:sp>
        <p:nvSpPr>
          <p:cNvPr id="22" name="TextBox 6">
            <a:extLst>
              <a:ext uri="{FF2B5EF4-FFF2-40B4-BE49-F238E27FC236}">
                <a16:creationId xmlns:a16="http://schemas.microsoft.com/office/drawing/2014/main" id="{80054943-5A32-AE38-F314-849C493A372D}"/>
              </a:ext>
            </a:extLst>
          </p:cNvPr>
          <p:cNvSpPr/>
          <p:nvPr/>
        </p:nvSpPr>
        <p:spPr>
          <a:xfrm>
            <a:off x="8849909" y="4518896"/>
            <a:ext cx="2952720" cy="175287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800" b="0" strike="noStrike" spc="-1" dirty="0">
                <a:solidFill>
                  <a:srgbClr val="000000"/>
                </a:solidFill>
                <a:highlight>
                  <a:srgbClr val="00FF00"/>
                </a:highlight>
                <a:latin typeface="Calibri"/>
              </a:rPr>
              <a:t>Dependency on perturbation magnitude is minimal, all though the absolute prediction </a:t>
            </a:r>
            <a:r>
              <a:rPr lang="en-IN" spc="-1" dirty="0">
                <a:solidFill>
                  <a:srgbClr val="000000"/>
                </a:solidFill>
                <a:highlight>
                  <a:srgbClr val="00FF00"/>
                </a:highlight>
                <a:latin typeface="Calibri"/>
              </a:rPr>
              <a:t>matching is observed for small magnitude of perturbation signal</a:t>
            </a:r>
            <a:endParaRPr lang="en-IN" sz="1800" b="0" strike="noStrike" spc="-1" dirty="0">
              <a:solidFill>
                <a:srgbClr val="000000"/>
              </a:solidFill>
              <a:highlight>
                <a:srgbClr val="00FF00"/>
              </a:highlight>
              <a:latin typeface="Arial"/>
            </a:endParaRPr>
          </a:p>
        </p:txBody>
      </p:sp>
    </p:spTree>
    <p:extLst>
      <p:ext uri="{BB962C8B-B14F-4D97-AF65-F5344CB8AC3E}">
        <p14:creationId xmlns:p14="http://schemas.microsoft.com/office/powerpoint/2010/main" val="204853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3C87-3F4E-2D1D-FC8A-A64AA4647C2A}"/>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E3EF709D-3B28-2F36-9FB0-070CDEB2A978}"/>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z="4400" b="0" strike="noStrike" spc="-1" dirty="0">
                <a:solidFill>
                  <a:srgbClr val="000000"/>
                </a:solidFill>
                <a:latin typeface="Calibri Light"/>
              </a:rPr>
              <a:t>To solve the SR prediction, we use MFPT</a:t>
            </a:r>
            <a:endParaRPr lang="en-US" sz="4400" b="0" strike="noStrike" spc="-1" dirty="0">
              <a:solidFill>
                <a:srgbClr val="000000"/>
              </a:solidFill>
              <a:latin typeface="Calibri"/>
            </a:endParaRPr>
          </a:p>
        </p:txBody>
      </p:sp>
      <p:sp>
        <p:nvSpPr>
          <p:cNvPr id="2" name="TextBox 6">
            <a:extLst>
              <a:ext uri="{FF2B5EF4-FFF2-40B4-BE49-F238E27FC236}">
                <a16:creationId xmlns:a16="http://schemas.microsoft.com/office/drawing/2014/main" id="{B20047FE-042F-DE16-70DF-F369FCAC28D3}"/>
              </a:ext>
            </a:extLst>
          </p:cNvPr>
          <p:cNvSpPr/>
          <p:nvPr/>
        </p:nvSpPr>
        <p:spPr>
          <a:xfrm>
            <a:off x="8003097" y="1240048"/>
            <a:ext cx="3875033"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800" b="0" strike="noStrike" spc="-1" dirty="0">
                <a:solidFill>
                  <a:srgbClr val="000000"/>
                </a:solidFill>
                <a:highlight>
                  <a:srgbClr val="00FF00"/>
                </a:highlight>
                <a:latin typeface="Calibri"/>
              </a:rPr>
              <a:t>MFPT: Mean First Passage Time</a:t>
            </a:r>
            <a:endParaRPr lang="en-IN" sz="1800" b="0" strike="noStrike" spc="-1" dirty="0">
              <a:solidFill>
                <a:srgbClr val="000000"/>
              </a:solidFill>
              <a:highlight>
                <a:srgbClr val="00FF00"/>
              </a:highlight>
              <a:latin typeface="Arial"/>
            </a:endParaRPr>
          </a:p>
        </p:txBody>
      </p:sp>
      <p:pic>
        <p:nvPicPr>
          <p:cNvPr id="5" name="Picture 4">
            <a:extLst>
              <a:ext uri="{FF2B5EF4-FFF2-40B4-BE49-F238E27FC236}">
                <a16:creationId xmlns:a16="http://schemas.microsoft.com/office/drawing/2014/main" id="{51CD5756-216C-9D33-F791-510EC885B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799" y="1524036"/>
            <a:ext cx="4413429" cy="4059265"/>
          </a:xfrm>
          <a:prstGeom prst="rect">
            <a:avLst/>
          </a:prstGeom>
        </p:spPr>
      </p:pic>
      <p:sp>
        <p:nvSpPr>
          <p:cNvPr id="7" name="TextBox 6">
            <a:extLst>
              <a:ext uri="{FF2B5EF4-FFF2-40B4-BE49-F238E27FC236}">
                <a16:creationId xmlns:a16="http://schemas.microsoft.com/office/drawing/2014/main" id="{715581E2-7BC2-5480-3055-91823374D614}"/>
              </a:ext>
            </a:extLst>
          </p:cNvPr>
          <p:cNvSpPr txBox="1"/>
          <p:nvPr/>
        </p:nvSpPr>
        <p:spPr>
          <a:xfrm>
            <a:off x="5008228" y="2103543"/>
            <a:ext cx="4518490" cy="923330"/>
          </a:xfrm>
          <a:prstGeom prst="rect">
            <a:avLst/>
          </a:prstGeom>
          <a:noFill/>
        </p:spPr>
        <p:txBody>
          <a:bodyPr wrap="square" rtlCol="0">
            <a:spAutoFit/>
          </a:bodyPr>
          <a:lstStyle/>
          <a:p>
            <a:r>
              <a:rPr lang="en-IN" dirty="0">
                <a:highlight>
                  <a:srgbClr val="FFFF00"/>
                </a:highlight>
              </a:rPr>
              <a:t>Instead of </a:t>
            </a:r>
            <a:r>
              <a:rPr lang="en-IN" dirty="0" err="1">
                <a:highlight>
                  <a:srgbClr val="FFFF00"/>
                </a:highlight>
              </a:rPr>
              <a:t>Ktime</a:t>
            </a:r>
            <a:r>
              <a:rPr lang="en-IN" dirty="0">
                <a:highlight>
                  <a:srgbClr val="FFFF00"/>
                </a:highlight>
              </a:rPr>
              <a:t> formula we extract the MFPT by simulating the SDE with the </a:t>
            </a:r>
            <a:r>
              <a:rPr lang="en-IN" dirty="0" err="1">
                <a:highlight>
                  <a:srgbClr val="FFFF00"/>
                </a:highlight>
              </a:rPr>
              <a:t>Ktime</a:t>
            </a:r>
            <a:r>
              <a:rPr lang="en-IN" dirty="0">
                <a:highlight>
                  <a:srgbClr val="FFFF00"/>
                </a:highlight>
              </a:rPr>
              <a:t> measurement experiment.  </a:t>
            </a:r>
          </a:p>
        </p:txBody>
      </p:sp>
      <p:pic>
        <p:nvPicPr>
          <p:cNvPr id="10" name="Picture 9" descr="A diagram of a function&#10;&#10;AI-generated content may be incorrect.">
            <a:extLst>
              <a:ext uri="{FF2B5EF4-FFF2-40B4-BE49-F238E27FC236}">
                <a16:creationId xmlns:a16="http://schemas.microsoft.com/office/drawing/2014/main" id="{F5C984D3-0831-7688-D33C-E24DC7574E38}"/>
              </a:ext>
            </a:extLst>
          </p:cNvPr>
          <p:cNvPicPr>
            <a:picLocks noChangeAspect="1"/>
          </p:cNvPicPr>
          <p:nvPr/>
        </p:nvPicPr>
        <p:blipFill>
          <a:blip r:embed="rId4"/>
          <a:stretch>
            <a:fillRect/>
          </a:stretch>
        </p:blipFill>
        <p:spPr>
          <a:xfrm>
            <a:off x="5732993" y="3207815"/>
            <a:ext cx="4669356" cy="2929792"/>
          </a:xfrm>
          <a:prstGeom prst="rect">
            <a:avLst/>
          </a:prstGeom>
        </p:spPr>
      </p:pic>
      <p:sp>
        <p:nvSpPr>
          <p:cNvPr id="11" name="TextBox 10">
            <a:extLst>
              <a:ext uri="{FF2B5EF4-FFF2-40B4-BE49-F238E27FC236}">
                <a16:creationId xmlns:a16="http://schemas.microsoft.com/office/drawing/2014/main" id="{C9645F0A-F54E-891B-B148-B48F2694294A}"/>
              </a:ext>
            </a:extLst>
          </p:cNvPr>
          <p:cNvSpPr txBox="1"/>
          <p:nvPr/>
        </p:nvSpPr>
        <p:spPr>
          <a:xfrm>
            <a:off x="9670925" y="5995383"/>
            <a:ext cx="2361684" cy="646331"/>
          </a:xfrm>
          <a:prstGeom prst="rect">
            <a:avLst/>
          </a:prstGeom>
          <a:noFill/>
        </p:spPr>
        <p:txBody>
          <a:bodyPr wrap="square" rtlCol="0">
            <a:spAutoFit/>
          </a:bodyPr>
          <a:lstStyle/>
          <a:p>
            <a:r>
              <a:rPr lang="en-IN" dirty="0">
                <a:highlight>
                  <a:srgbClr val="FFFF00"/>
                </a:highlight>
              </a:rPr>
              <a:t>MFPT prediction matches exactly!</a:t>
            </a:r>
          </a:p>
        </p:txBody>
      </p:sp>
    </p:spTree>
    <p:extLst>
      <p:ext uri="{BB962C8B-B14F-4D97-AF65-F5344CB8AC3E}">
        <p14:creationId xmlns:p14="http://schemas.microsoft.com/office/powerpoint/2010/main" val="1848292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D17D7-5E39-3F61-FE7E-E4B728AC65D4}"/>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C4C52430-9940-7B6F-88B2-CDD92D4B693A}"/>
              </a:ext>
            </a:extLst>
          </p:cNvPr>
          <p:cNvSpPr>
            <a:spLocks noGrp="1"/>
          </p:cNvSpPr>
          <p:nvPr>
            <p:ph type="title"/>
          </p:nvPr>
        </p:nvSpPr>
        <p:spPr>
          <a:xfrm>
            <a:off x="594799" y="98827"/>
            <a:ext cx="10515240" cy="1325160"/>
          </a:xfrm>
          <a:prstGeom prst="rect">
            <a:avLst/>
          </a:prstGeom>
          <a:noFill/>
          <a:ln w="0">
            <a:noFill/>
          </a:ln>
        </p:spPr>
        <p:txBody>
          <a:bodyPr anchor="ctr">
            <a:noAutofit/>
          </a:bodyPr>
          <a:lstStyle/>
          <a:p>
            <a:pPr indent="0">
              <a:lnSpc>
                <a:spcPct val="90000"/>
              </a:lnSpc>
              <a:buNone/>
            </a:pPr>
            <a:r>
              <a:rPr lang="en-US" sz="4400" b="0" strike="noStrike" spc="-1" dirty="0">
                <a:solidFill>
                  <a:srgbClr val="000000"/>
                </a:solidFill>
                <a:latin typeface="Calibri Light"/>
              </a:rPr>
              <a:t>Inconsistency in extraction of rho from </a:t>
            </a:r>
            <a:r>
              <a:rPr lang="en-US" sz="4400" b="0" strike="noStrike" spc="-1" dirty="0" err="1">
                <a:solidFill>
                  <a:srgbClr val="000000"/>
                </a:solidFill>
                <a:latin typeface="Calibri Light"/>
              </a:rPr>
              <a:t>Ktime</a:t>
            </a:r>
            <a:r>
              <a:rPr lang="en-US" sz="4400" b="0" strike="noStrike" spc="-1" dirty="0">
                <a:solidFill>
                  <a:srgbClr val="000000"/>
                </a:solidFill>
                <a:latin typeface="Calibri Light"/>
              </a:rPr>
              <a:t> exp</a:t>
            </a:r>
            <a:endParaRPr lang="en-US" sz="4400" b="0" strike="noStrike" spc="-1" dirty="0">
              <a:solidFill>
                <a:srgbClr val="000000"/>
              </a:solidFill>
              <a:latin typeface="Calibri"/>
            </a:endParaRPr>
          </a:p>
        </p:txBody>
      </p:sp>
      <p:sp>
        <p:nvSpPr>
          <p:cNvPr id="2" name="TextBox 6">
            <a:extLst>
              <a:ext uri="{FF2B5EF4-FFF2-40B4-BE49-F238E27FC236}">
                <a16:creationId xmlns:a16="http://schemas.microsoft.com/office/drawing/2014/main" id="{B1EE6AFE-16D9-F515-5A28-8EBC5CD01ADB}"/>
              </a:ext>
            </a:extLst>
          </p:cNvPr>
          <p:cNvSpPr/>
          <p:nvPr/>
        </p:nvSpPr>
        <p:spPr>
          <a:xfrm>
            <a:off x="1213677" y="5452226"/>
            <a:ext cx="1870745"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800" b="0" strike="noStrike" spc="-1" dirty="0">
                <a:solidFill>
                  <a:srgbClr val="000000"/>
                </a:solidFill>
                <a:highlight>
                  <a:srgbClr val="00FF00"/>
                </a:highlight>
                <a:latin typeface="Calibri"/>
              </a:rPr>
              <a:t>MFPT: </a:t>
            </a:r>
            <a:r>
              <a:rPr lang="en-IN" spc="-1" dirty="0">
                <a:solidFill>
                  <a:srgbClr val="000000"/>
                </a:solidFill>
                <a:highlight>
                  <a:srgbClr val="00FF00"/>
                </a:highlight>
                <a:latin typeface="Calibri"/>
              </a:rPr>
              <a:t>Simulation</a:t>
            </a:r>
            <a:endParaRPr lang="en-IN" sz="1800" b="0" strike="noStrike" spc="-1" dirty="0">
              <a:solidFill>
                <a:srgbClr val="000000"/>
              </a:solidFill>
              <a:highlight>
                <a:srgbClr val="00FF00"/>
              </a:highlight>
              <a:latin typeface="Arial"/>
            </a:endParaRPr>
          </a:p>
        </p:txBody>
      </p:sp>
      <p:pic>
        <p:nvPicPr>
          <p:cNvPr id="4" name="Picture 3">
            <a:extLst>
              <a:ext uri="{FF2B5EF4-FFF2-40B4-BE49-F238E27FC236}">
                <a16:creationId xmlns:a16="http://schemas.microsoft.com/office/drawing/2014/main" id="{F2E6932C-0E89-A896-C9C3-E5A2F6DC0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693" y="1513601"/>
            <a:ext cx="4305300" cy="3562350"/>
          </a:xfrm>
          <a:prstGeom prst="rect">
            <a:avLst/>
          </a:prstGeom>
        </p:spPr>
      </p:pic>
      <p:pic>
        <p:nvPicPr>
          <p:cNvPr id="8" name="Picture 7" descr="A graph of different colored lines&#10;&#10;AI-generated content may be incorrect.">
            <a:extLst>
              <a:ext uri="{FF2B5EF4-FFF2-40B4-BE49-F238E27FC236}">
                <a16:creationId xmlns:a16="http://schemas.microsoft.com/office/drawing/2014/main" id="{A088B912-CE42-BC8D-3759-B06C4F2FB5EA}"/>
              </a:ext>
            </a:extLst>
          </p:cNvPr>
          <p:cNvPicPr>
            <a:picLocks noChangeAspect="1"/>
          </p:cNvPicPr>
          <p:nvPr/>
        </p:nvPicPr>
        <p:blipFill>
          <a:blip r:embed="rId4"/>
          <a:stretch>
            <a:fillRect/>
          </a:stretch>
        </p:blipFill>
        <p:spPr>
          <a:xfrm>
            <a:off x="4588324" y="1423987"/>
            <a:ext cx="4114871" cy="3979958"/>
          </a:xfrm>
          <a:prstGeom prst="rect">
            <a:avLst/>
          </a:prstGeom>
        </p:spPr>
      </p:pic>
      <p:sp>
        <p:nvSpPr>
          <p:cNvPr id="9" name="TextBox 6">
            <a:extLst>
              <a:ext uri="{FF2B5EF4-FFF2-40B4-BE49-F238E27FC236}">
                <a16:creationId xmlns:a16="http://schemas.microsoft.com/office/drawing/2014/main" id="{F79311F0-0074-291C-98A5-C9D0C906A4CD}"/>
              </a:ext>
            </a:extLst>
          </p:cNvPr>
          <p:cNvSpPr/>
          <p:nvPr/>
        </p:nvSpPr>
        <p:spPr>
          <a:xfrm>
            <a:off x="5508386" y="5452226"/>
            <a:ext cx="3194809"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800" b="0" strike="noStrike" spc="-1" dirty="0">
                <a:solidFill>
                  <a:srgbClr val="000000"/>
                </a:solidFill>
                <a:highlight>
                  <a:srgbClr val="00FF00"/>
                </a:highlight>
                <a:latin typeface="Calibri"/>
              </a:rPr>
              <a:t>Exp + </a:t>
            </a:r>
            <a:r>
              <a:rPr lang="en-IN" sz="1800" b="0" strike="noStrike" spc="-1" dirty="0" err="1">
                <a:solidFill>
                  <a:srgbClr val="000000"/>
                </a:solidFill>
                <a:highlight>
                  <a:srgbClr val="00FF00"/>
                </a:highlight>
                <a:latin typeface="Calibri"/>
              </a:rPr>
              <a:t>Ktime</a:t>
            </a:r>
            <a:r>
              <a:rPr lang="en-IN" sz="1800" b="0" strike="noStrike" spc="-1" dirty="0">
                <a:solidFill>
                  <a:srgbClr val="000000"/>
                </a:solidFill>
                <a:highlight>
                  <a:srgbClr val="00FF00"/>
                </a:highlight>
                <a:latin typeface="Calibri"/>
              </a:rPr>
              <a:t> Analytical Overlap</a:t>
            </a:r>
            <a:endParaRPr lang="en-IN" sz="1800" b="0" strike="noStrike" spc="-1" dirty="0">
              <a:solidFill>
                <a:srgbClr val="000000"/>
              </a:solidFill>
              <a:highlight>
                <a:srgbClr val="00FF00"/>
              </a:highlight>
              <a:latin typeface="Arial"/>
            </a:endParaRPr>
          </a:p>
        </p:txBody>
      </p:sp>
      <p:sp>
        <p:nvSpPr>
          <p:cNvPr id="12" name="TextBox 11">
            <a:extLst>
              <a:ext uri="{FF2B5EF4-FFF2-40B4-BE49-F238E27FC236}">
                <a16:creationId xmlns:a16="http://schemas.microsoft.com/office/drawing/2014/main" id="{FD308D17-F96E-174C-749E-552D85BDDFCE}"/>
              </a:ext>
            </a:extLst>
          </p:cNvPr>
          <p:cNvSpPr txBox="1"/>
          <p:nvPr/>
        </p:nvSpPr>
        <p:spPr>
          <a:xfrm>
            <a:off x="8809526" y="1591814"/>
            <a:ext cx="3352659" cy="1477328"/>
          </a:xfrm>
          <a:prstGeom prst="rect">
            <a:avLst/>
          </a:prstGeom>
          <a:noFill/>
        </p:spPr>
        <p:txBody>
          <a:bodyPr wrap="square" rtlCol="0">
            <a:spAutoFit/>
          </a:bodyPr>
          <a:lstStyle/>
          <a:p>
            <a:r>
              <a:rPr lang="en-IN" dirty="0">
                <a:highlight>
                  <a:srgbClr val="FFFF00"/>
                </a:highlight>
              </a:rPr>
              <a:t>The rho is extracted with the assumption that </a:t>
            </a:r>
            <a:r>
              <a:rPr lang="en-IN" dirty="0" err="1">
                <a:highlight>
                  <a:srgbClr val="FFFF00"/>
                </a:highlight>
              </a:rPr>
              <a:t>Ktime</a:t>
            </a:r>
            <a:r>
              <a:rPr lang="en-IN" dirty="0">
                <a:highlight>
                  <a:srgbClr val="FFFF00"/>
                </a:highlight>
              </a:rPr>
              <a:t> formula hold valid for BW = 100 kHz,</a:t>
            </a:r>
          </a:p>
          <a:p>
            <a:r>
              <a:rPr lang="en-IN" dirty="0">
                <a:highlight>
                  <a:srgbClr val="FFFF00"/>
                </a:highlight>
              </a:rPr>
              <a:t>But it’s not! (evident from the MFPT simulation)</a:t>
            </a:r>
          </a:p>
        </p:txBody>
      </p:sp>
      <p:sp>
        <p:nvSpPr>
          <p:cNvPr id="13" name="TextBox 12">
            <a:extLst>
              <a:ext uri="{FF2B5EF4-FFF2-40B4-BE49-F238E27FC236}">
                <a16:creationId xmlns:a16="http://schemas.microsoft.com/office/drawing/2014/main" id="{BEF63724-272E-1005-AB9E-21F021EDC8C6}"/>
              </a:ext>
            </a:extLst>
          </p:cNvPr>
          <p:cNvSpPr txBox="1"/>
          <p:nvPr/>
        </p:nvSpPr>
        <p:spPr>
          <a:xfrm>
            <a:off x="8925065" y="4943020"/>
            <a:ext cx="3121579" cy="1754326"/>
          </a:xfrm>
          <a:prstGeom prst="rect">
            <a:avLst/>
          </a:prstGeom>
          <a:noFill/>
        </p:spPr>
        <p:txBody>
          <a:bodyPr wrap="square" rtlCol="0">
            <a:spAutoFit/>
          </a:bodyPr>
          <a:lstStyle/>
          <a:p>
            <a:r>
              <a:rPr lang="en-IN" dirty="0">
                <a:highlight>
                  <a:srgbClr val="00FFFF"/>
                </a:highlight>
              </a:rPr>
              <a:t>Re-work for future:</a:t>
            </a:r>
          </a:p>
          <a:p>
            <a:r>
              <a:rPr lang="en-IN" dirty="0">
                <a:highlight>
                  <a:srgbClr val="00FFFF"/>
                </a:highlight>
              </a:rPr>
              <a:t>first find the analytical expression for MFPT with bandlimited noise, use that formula to fit the experiment data</a:t>
            </a:r>
          </a:p>
        </p:txBody>
      </p:sp>
    </p:spTree>
    <p:extLst>
      <p:ext uri="{BB962C8B-B14F-4D97-AF65-F5344CB8AC3E}">
        <p14:creationId xmlns:p14="http://schemas.microsoft.com/office/powerpoint/2010/main" val="370019648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TotalTime>
  <Words>533</Words>
  <Application>Microsoft Office PowerPoint</Application>
  <PresentationFormat>Widescreen</PresentationFormat>
  <Paragraphs>58</Paragraphs>
  <Slides>13</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Arial</vt:lpstr>
      <vt:lpstr>Calibri</vt:lpstr>
      <vt:lpstr>Calibri Light</vt:lpstr>
      <vt:lpstr>Symbol</vt:lpstr>
      <vt:lpstr>Times New Roman</vt:lpstr>
      <vt:lpstr>Wingdings</vt:lpstr>
      <vt:lpstr>Office Theme</vt:lpstr>
      <vt:lpstr>Office Theme</vt:lpstr>
      <vt:lpstr>SR in thin-film ferro-electric capacitor</vt:lpstr>
      <vt:lpstr>Hysteresis Fit IIT PKD</vt:lpstr>
      <vt:lpstr>PowerPoint Presentation</vt:lpstr>
      <vt:lpstr>PowerPoint Presentation</vt:lpstr>
      <vt:lpstr>Free energy density value</vt:lpstr>
      <vt:lpstr>Time series data Exp vs Num</vt:lpstr>
      <vt:lpstr>FSK SNR of the signal improves or not?</vt:lpstr>
      <vt:lpstr>Effect of rho in SR</vt:lpstr>
      <vt:lpstr>Noise Characterization</vt:lpstr>
      <vt:lpstr>Noise Characterization</vt:lpstr>
      <vt:lpstr>Found an inconsistency in our assumptions </vt:lpstr>
      <vt:lpstr>To solve the SR prediction, we use MFPT</vt:lpstr>
      <vt:lpstr>Inconsistency in extraction of rho from Ktime exp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Manikantan R S</dc:creator>
  <dc:description/>
  <cp:lastModifiedBy>Manikantan R S</cp:lastModifiedBy>
  <cp:revision>8</cp:revision>
  <dcterms:created xsi:type="dcterms:W3CDTF">2025-06-04T06:39:12Z</dcterms:created>
  <dcterms:modified xsi:type="dcterms:W3CDTF">2025-12-11T14:17:16Z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5</vt:i4>
  </property>
</Properties>
</file>